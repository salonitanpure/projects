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36B9-446B-4C3F-A50C-BBB660B2D8EE}" v="28" dt="2025-04-11T18:43:00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359560-FC19-4786-8290-AA1B14AA31F1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7D5107-860A-4DBC-8DA1-81C8589C390C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Bahnschrift SemiBold" panose="020B0502040204020203" pitchFamily="34" charset="0"/>
              <a:ea typeface="Roboto Medium" pitchFamily="34" charset="-122"/>
              <a:cs typeface="Roboto Medium" pitchFamily="34" charset="-120"/>
            </a:rPr>
            <a:t>GPT-4o</a:t>
          </a:r>
        </a:p>
        <a:p>
          <a:pPr>
            <a:buNone/>
          </a:pPr>
          <a:endParaRPr lang="en-US" dirty="0">
            <a:latin typeface="Bahnschrift SemiBold" panose="020B0502040204020203" pitchFamily="34" charset="0"/>
            <a:ea typeface="Roboto Medium" pitchFamily="34" charset="-122"/>
          </a:endParaRPr>
        </a:p>
        <a:p>
          <a:pPr>
            <a:buNone/>
          </a:pPr>
          <a:r>
            <a:rPr lang="en-US" dirty="0" err="1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OpenAI's</a:t>
          </a:r>
          <a:r>
            <a:rPr lang="en-US" dirty="0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 multimodal model capable of understanding and generating text, interpreting images, and performing tasks.</a:t>
          </a:r>
          <a:endParaRPr lang="en-IN" dirty="0">
            <a:latin typeface="Bahnschrift SemiBold" panose="020B0502040204020203" pitchFamily="34" charset="0"/>
          </a:endParaRPr>
        </a:p>
      </dgm:t>
    </dgm:pt>
    <dgm:pt modelId="{3C0FFB83-4ECB-400B-888A-C4B7F705CD55}" type="parTrans" cxnId="{D4DEA874-734A-4519-9F28-D0683FBC3F09}">
      <dgm:prSet/>
      <dgm:spPr/>
      <dgm:t>
        <a:bodyPr/>
        <a:lstStyle/>
        <a:p>
          <a:endParaRPr lang="en-IN"/>
        </a:p>
      </dgm:t>
    </dgm:pt>
    <dgm:pt modelId="{CCB9A90E-FB00-4CBC-BA98-D8289623C737}" type="sibTrans" cxnId="{D4DEA874-734A-4519-9F28-D0683FBC3F09}">
      <dgm:prSet/>
      <dgm:spPr/>
      <dgm:t>
        <a:bodyPr/>
        <a:lstStyle/>
        <a:p>
          <a:endParaRPr lang="en-IN"/>
        </a:p>
      </dgm:t>
    </dgm:pt>
    <dgm:pt modelId="{6926EE6A-6778-4886-8B8F-69B826432C5B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Bahnschrift SemiBold" panose="020B0502040204020203" pitchFamily="34" charset="0"/>
              <a:ea typeface="Roboto Medium" pitchFamily="34" charset="-122"/>
              <a:cs typeface="Roboto Medium" pitchFamily="34" charset="-120"/>
            </a:rPr>
            <a:t>Computer-Using Agent (CUA)</a:t>
          </a:r>
        </a:p>
        <a:p>
          <a:pPr>
            <a:buNone/>
          </a:pPr>
          <a:endParaRPr lang="en-US" dirty="0">
            <a:latin typeface="Bahnschrift SemiBold" panose="020B0502040204020203" pitchFamily="34" charset="0"/>
            <a:ea typeface="Roboto Medium" pitchFamily="34" charset="-122"/>
          </a:endParaRPr>
        </a:p>
        <a:p>
          <a:pPr>
            <a:buNone/>
          </a:pPr>
          <a:r>
            <a:rPr lang="en-US" dirty="0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A model that combines GPT-4o's vision capabilities with advanced reasoning to interact with graphical user interfaces (GUIs).</a:t>
          </a:r>
          <a:endParaRPr lang="en-IN" dirty="0">
            <a:latin typeface="Bahnschrift SemiBold" panose="020B0502040204020203" pitchFamily="34" charset="0"/>
          </a:endParaRPr>
        </a:p>
      </dgm:t>
    </dgm:pt>
    <dgm:pt modelId="{D3B0571D-3CC0-4A04-95BB-8E97A4FCABE7}" type="parTrans" cxnId="{73E37BF7-EC9A-497E-9970-9E3DEEF1DBFF}">
      <dgm:prSet/>
      <dgm:spPr/>
      <dgm:t>
        <a:bodyPr/>
        <a:lstStyle/>
        <a:p>
          <a:endParaRPr lang="en-IN"/>
        </a:p>
      </dgm:t>
    </dgm:pt>
    <dgm:pt modelId="{8B785B47-0EA4-4113-B494-1D4F2690DB5F}" type="sibTrans" cxnId="{73E37BF7-EC9A-497E-9970-9E3DEEF1DBFF}">
      <dgm:prSet/>
      <dgm:spPr/>
      <dgm:t>
        <a:bodyPr/>
        <a:lstStyle/>
        <a:p>
          <a:endParaRPr lang="en-IN"/>
        </a:p>
      </dgm:t>
    </dgm:pt>
    <dgm:pt modelId="{4C6B1CBC-0771-424B-BAF7-7D4C5A5628DF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Bahnschrift SemiBold" panose="020B0502040204020203" pitchFamily="34" charset="0"/>
              <a:ea typeface="Roboto Medium" pitchFamily="34" charset="-122"/>
              <a:cs typeface="Roboto Medium" pitchFamily="34" charset="-120"/>
            </a:rPr>
            <a:t>Operator</a:t>
          </a:r>
        </a:p>
        <a:p>
          <a:pPr>
            <a:buNone/>
          </a:pPr>
          <a:endParaRPr lang="en-US" dirty="0">
            <a:latin typeface="Bahnschrift SemiBold" panose="020B0502040204020203" pitchFamily="34" charset="0"/>
            <a:ea typeface="Roboto Medium" pitchFamily="34" charset="-122"/>
            <a:cs typeface="Roboto" pitchFamily="34" charset="-120"/>
          </a:endParaRPr>
        </a:p>
        <a:p>
          <a:pPr>
            <a:buNone/>
          </a:pPr>
          <a:r>
            <a:rPr lang="en-US" dirty="0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An AI agent that utilizes CUA to perform tasks on the web by mimicking human interactions such as clicking, typing, and scrolling.</a:t>
          </a:r>
          <a:endParaRPr lang="en-IN" dirty="0">
            <a:latin typeface="Bahnschrift SemiBold" panose="020B0502040204020203" pitchFamily="34" charset="0"/>
          </a:endParaRPr>
        </a:p>
      </dgm:t>
    </dgm:pt>
    <dgm:pt modelId="{05C47751-523B-4CF2-9943-E5D1E97A8589}" type="parTrans" cxnId="{8BC5823D-53B1-4327-AB11-B0D61C9B2BEF}">
      <dgm:prSet/>
      <dgm:spPr/>
      <dgm:t>
        <a:bodyPr/>
        <a:lstStyle/>
        <a:p>
          <a:endParaRPr lang="en-IN"/>
        </a:p>
      </dgm:t>
    </dgm:pt>
    <dgm:pt modelId="{21888289-88A8-4660-A4F6-B9E33D8F0DE8}" type="sibTrans" cxnId="{8BC5823D-53B1-4327-AB11-B0D61C9B2BEF}">
      <dgm:prSet/>
      <dgm:spPr/>
      <dgm:t>
        <a:bodyPr/>
        <a:lstStyle/>
        <a:p>
          <a:endParaRPr lang="en-IN"/>
        </a:p>
      </dgm:t>
    </dgm:pt>
    <dgm:pt modelId="{D1324D80-1FFB-4E40-B434-B44933C9DC0C}" type="pres">
      <dgm:prSet presAssocID="{37359560-FC19-4786-8290-AA1B14AA31F1}" presName="diagram" presStyleCnt="0">
        <dgm:presLayoutVars>
          <dgm:dir/>
          <dgm:resizeHandles val="exact"/>
        </dgm:presLayoutVars>
      </dgm:prSet>
      <dgm:spPr/>
    </dgm:pt>
    <dgm:pt modelId="{ED19A48F-2230-4FB6-BD5A-683F566E78C4}" type="pres">
      <dgm:prSet presAssocID="{5C7D5107-860A-4DBC-8DA1-81C8589C390C}" presName="node" presStyleLbl="node1" presStyleIdx="0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A6C94E19-E6D5-4FBC-B95F-E231B0DE7EF3}" type="pres">
      <dgm:prSet presAssocID="{CCB9A90E-FB00-4CBC-BA98-D8289623C737}" presName="sibTrans" presStyleCnt="0"/>
      <dgm:spPr/>
    </dgm:pt>
    <dgm:pt modelId="{2C3A87CB-EB7F-402A-B31B-51FD702724D4}" type="pres">
      <dgm:prSet presAssocID="{6926EE6A-6778-4886-8B8F-69B826432C5B}" presName="node" presStyleLbl="node1" presStyleIdx="1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49176B4F-3FF2-4F7F-AB1C-9E7FB93F4AA0}" type="pres">
      <dgm:prSet presAssocID="{8B785B47-0EA4-4113-B494-1D4F2690DB5F}" presName="sibTrans" presStyleCnt="0"/>
      <dgm:spPr/>
    </dgm:pt>
    <dgm:pt modelId="{B22ADE07-0DF6-4CCF-8D13-CC86AB211F8D}" type="pres">
      <dgm:prSet presAssocID="{4C6B1CBC-0771-424B-BAF7-7D4C5A5628DF}" presName="node" presStyleLbl="node1" presStyleIdx="2" presStyleCnt="3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8BC5823D-53B1-4327-AB11-B0D61C9B2BEF}" srcId="{37359560-FC19-4786-8290-AA1B14AA31F1}" destId="{4C6B1CBC-0771-424B-BAF7-7D4C5A5628DF}" srcOrd="2" destOrd="0" parTransId="{05C47751-523B-4CF2-9943-E5D1E97A8589}" sibTransId="{21888289-88A8-4660-A4F6-B9E33D8F0DE8}"/>
    <dgm:cxn modelId="{4D555844-3B8D-4C10-94A0-5181A704D623}" type="presOf" srcId="{37359560-FC19-4786-8290-AA1B14AA31F1}" destId="{D1324D80-1FFB-4E40-B434-B44933C9DC0C}" srcOrd="0" destOrd="0" presId="urn:microsoft.com/office/officeart/2005/8/layout/default"/>
    <dgm:cxn modelId="{D4DEA874-734A-4519-9F28-D0683FBC3F09}" srcId="{37359560-FC19-4786-8290-AA1B14AA31F1}" destId="{5C7D5107-860A-4DBC-8DA1-81C8589C390C}" srcOrd="0" destOrd="0" parTransId="{3C0FFB83-4ECB-400B-888A-C4B7F705CD55}" sibTransId="{CCB9A90E-FB00-4CBC-BA98-D8289623C737}"/>
    <dgm:cxn modelId="{3302B29A-A5D6-4EF2-B3CD-FB7C619B3EC4}" type="presOf" srcId="{4C6B1CBC-0771-424B-BAF7-7D4C5A5628DF}" destId="{B22ADE07-0DF6-4CCF-8D13-CC86AB211F8D}" srcOrd="0" destOrd="0" presId="urn:microsoft.com/office/officeart/2005/8/layout/default"/>
    <dgm:cxn modelId="{113A48BE-1E02-4B0E-857D-7A89792CF25C}" type="presOf" srcId="{5C7D5107-860A-4DBC-8DA1-81C8589C390C}" destId="{ED19A48F-2230-4FB6-BD5A-683F566E78C4}" srcOrd="0" destOrd="0" presId="urn:microsoft.com/office/officeart/2005/8/layout/default"/>
    <dgm:cxn modelId="{25267FE5-D531-42C2-BF80-6E5F33DED41C}" type="presOf" srcId="{6926EE6A-6778-4886-8B8F-69B826432C5B}" destId="{2C3A87CB-EB7F-402A-B31B-51FD702724D4}" srcOrd="0" destOrd="0" presId="urn:microsoft.com/office/officeart/2005/8/layout/default"/>
    <dgm:cxn modelId="{73E37BF7-EC9A-497E-9970-9E3DEEF1DBFF}" srcId="{37359560-FC19-4786-8290-AA1B14AA31F1}" destId="{6926EE6A-6778-4886-8B8F-69B826432C5B}" srcOrd="1" destOrd="0" parTransId="{D3B0571D-3CC0-4A04-95BB-8E97A4FCABE7}" sibTransId="{8B785B47-0EA4-4113-B494-1D4F2690DB5F}"/>
    <dgm:cxn modelId="{EAB2145D-137F-471B-93DB-FE1351E2C968}" type="presParOf" srcId="{D1324D80-1FFB-4E40-B434-B44933C9DC0C}" destId="{ED19A48F-2230-4FB6-BD5A-683F566E78C4}" srcOrd="0" destOrd="0" presId="urn:microsoft.com/office/officeart/2005/8/layout/default"/>
    <dgm:cxn modelId="{770C07F1-E305-4094-856F-173588F7C5A1}" type="presParOf" srcId="{D1324D80-1FFB-4E40-B434-B44933C9DC0C}" destId="{A6C94E19-E6D5-4FBC-B95F-E231B0DE7EF3}" srcOrd="1" destOrd="0" presId="urn:microsoft.com/office/officeart/2005/8/layout/default"/>
    <dgm:cxn modelId="{037DE6EF-ADD4-4852-A533-24D7D95FE90C}" type="presParOf" srcId="{D1324D80-1FFB-4E40-B434-B44933C9DC0C}" destId="{2C3A87CB-EB7F-402A-B31B-51FD702724D4}" srcOrd="2" destOrd="0" presId="urn:microsoft.com/office/officeart/2005/8/layout/default"/>
    <dgm:cxn modelId="{1034E9A3-0A34-4165-AE4B-123B24A5FBB1}" type="presParOf" srcId="{D1324D80-1FFB-4E40-B434-B44933C9DC0C}" destId="{49176B4F-3FF2-4F7F-AB1C-9E7FB93F4AA0}" srcOrd="3" destOrd="0" presId="urn:microsoft.com/office/officeart/2005/8/layout/default"/>
    <dgm:cxn modelId="{088146F9-000B-407A-B499-91389FE12D20}" type="presParOf" srcId="{D1324D80-1FFB-4E40-B434-B44933C9DC0C}" destId="{B22ADE07-0DF6-4CCF-8D13-CC86AB211F8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9A48F-2230-4FB6-BD5A-683F566E78C4}">
      <dsp:nvSpPr>
        <dsp:cNvPr id="0" name=""/>
        <dsp:cNvSpPr/>
      </dsp:nvSpPr>
      <dsp:spPr>
        <a:xfrm>
          <a:off x="0" y="470428"/>
          <a:ext cx="3514725" cy="2108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ahnschrift SemiBold" panose="020B0502040204020203" pitchFamily="34" charset="0"/>
              <a:ea typeface="Roboto Medium" pitchFamily="34" charset="-122"/>
              <a:cs typeface="Roboto Medium" pitchFamily="34" charset="-120"/>
            </a:rPr>
            <a:t>GPT-4o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Bahnschrift SemiBold" panose="020B0502040204020203" pitchFamily="34" charset="0"/>
            <a:ea typeface="Roboto Medium" pitchFamily="34" charset="-122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OpenAI's</a:t>
          </a:r>
          <a:r>
            <a:rPr lang="en-US" sz="1600" kern="1200" dirty="0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 multimodal model capable of understanding and generating text, interpreting images, and performing tasks.</a:t>
          </a:r>
          <a:endParaRPr lang="en-IN" sz="1600" kern="1200" dirty="0">
            <a:latin typeface="Bahnschrift SemiBold" panose="020B0502040204020203" pitchFamily="34" charset="0"/>
          </a:endParaRPr>
        </a:p>
      </dsp:txBody>
      <dsp:txXfrm>
        <a:off x="102945" y="573373"/>
        <a:ext cx="3308835" cy="1902945"/>
      </dsp:txXfrm>
    </dsp:sp>
    <dsp:sp modelId="{2C3A87CB-EB7F-402A-B31B-51FD702724D4}">
      <dsp:nvSpPr>
        <dsp:cNvPr id="0" name=""/>
        <dsp:cNvSpPr/>
      </dsp:nvSpPr>
      <dsp:spPr>
        <a:xfrm>
          <a:off x="3866197" y="470428"/>
          <a:ext cx="3514725" cy="2108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ahnschrift SemiBold" panose="020B0502040204020203" pitchFamily="34" charset="0"/>
              <a:ea typeface="Roboto Medium" pitchFamily="34" charset="-122"/>
              <a:cs typeface="Roboto Medium" pitchFamily="34" charset="-120"/>
            </a:rPr>
            <a:t>Computer-Using Agent (CUA)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Bahnschrift SemiBold" panose="020B0502040204020203" pitchFamily="34" charset="0"/>
            <a:ea typeface="Roboto Medium" pitchFamily="34" charset="-122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A model that combines GPT-4o's vision capabilities with advanced reasoning to interact with graphical user interfaces (GUIs).</a:t>
          </a:r>
          <a:endParaRPr lang="en-IN" sz="1600" kern="1200" dirty="0">
            <a:latin typeface="Bahnschrift SemiBold" panose="020B0502040204020203" pitchFamily="34" charset="0"/>
          </a:endParaRPr>
        </a:p>
      </dsp:txBody>
      <dsp:txXfrm>
        <a:off x="3969142" y="573373"/>
        <a:ext cx="3308835" cy="1902945"/>
      </dsp:txXfrm>
    </dsp:sp>
    <dsp:sp modelId="{B22ADE07-0DF6-4CCF-8D13-CC86AB211F8D}">
      <dsp:nvSpPr>
        <dsp:cNvPr id="0" name=""/>
        <dsp:cNvSpPr/>
      </dsp:nvSpPr>
      <dsp:spPr>
        <a:xfrm>
          <a:off x="7732395" y="470428"/>
          <a:ext cx="3514725" cy="2108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ahnschrift SemiBold" panose="020B0502040204020203" pitchFamily="34" charset="0"/>
              <a:ea typeface="Roboto Medium" pitchFamily="34" charset="-122"/>
              <a:cs typeface="Roboto Medium" pitchFamily="34" charset="-120"/>
            </a:rPr>
            <a:t>Operator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Bahnschrift SemiBold" panose="020B0502040204020203" pitchFamily="34" charset="0"/>
            <a:ea typeface="Roboto Medium" pitchFamily="34" charset="-122"/>
            <a:cs typeface="Roboto" pitchFamily="34" charset="-120"/>
          </a:endParaRP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Bahnschrift SemiBold" panose="020B0502040204020203" pitchFamily="34" charset="0"/>
              <a:ea typeface="Roboto" pitchFamily="34" charset="-122"/>
              <a:cs typeface="Roboto" pitchFamily="34" charset="-120"/>
            </a:rPr>
            <a:t>An AI agent that utilizes CUA to perform tasks on the web by mimicking human interactions such as clicking, typing, and scrolling.</a:t>
          </a:r>
          <a:endParaRPr lang="en-IN" sz="1600" kern="1200" dirty="0">
            <a:latin typeface="Bahnschrift SemiBold" panose="020B0502040204020203" pitchFamily="34" charset="0"/>
          </a:endParaRPr>
        </a:p>
      </dsp:txBody>
      <dsp:txXfrm>
        <a:off x="7835340" y="573373"/>
        <a:ext cx="3308835" cy="1902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6B667-CD3F-4ECB-80FC-B4FF797FB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6DE85-CFA3-4572-BFE1-23A6CEC0C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8F21B-C815-407A-BB04-B5FD98ED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1F5C-08D0-4157-A1C4-7827BAC9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D08FD-31DB-4EA1-99BF-7DE73752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4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58A2-B96B-4C0A-A834-A67CE3A90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82C90-D816-4188-8E62-82964540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329D6-D140-4B5F-B73F-DC1A97CC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341DE-1152-4205-B439-77DAA213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CA35-D285-4CDE-BDCD-793D0C742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12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10C3-204D-464A-B7E2-98CC43B5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7CA23-946C-4DD8-8F28-0FE93408E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E0C7-8CCB-46D3-A101-34B09E2C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370E3-57A7-4C8D-9EFD-73788CA8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754DA-9FD7-4CFB-87E8-C0C407B8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0165-0F45-4541-B9A5-753EC434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8334-46AC-4D75-87B1-9AF730ABF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DA60E-25FF-4DD8-975D-65264B145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470A7-1373-4514-988D-C539C0E5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358D2-5AC5-42DE-BD68-642D816E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7EB2C-0E89-42DC-BD56-2EACF7EA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36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A61C-4475-4AB3-B8CA-49510A35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9B3C2-A5C2-4F8B-9995-DF956C23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F0A4D-48D3-4B25-8A24-EA9C4E94D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D0FC6-283D-4908-B1D6-52E50EC12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C52BD-4D38-4F76-A099-6DB7D4FD3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83E5B-2EE5-4CAB-B326-36CA6F0D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DB8FE-C250-4D10-B631-E2387AAFB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D45AF-B9DC-4911-9A8D-C77A3953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4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DA24-F10A-4CFD-87C7-BA86B436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7C78B-944A-4A82-B72F-F09C7F64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72BDC-BBB5-43DD-99B3-F5C42021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55569-B371-4B8F-927B-58773193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00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6C2F1-82D5-4F7F-92F2-3D356A67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9B3F1-4C91-4C48-941A-0F7973C8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8F841-20C5-468B-B7C4-B3C5FE5F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5938-08FC-481A-AE88-9F669862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FF69-1E66-4704-9B18-2D08CAE16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1C7B5-FC91-4EDB-B4F9-7DF30B514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D2F50-F6D8-4030-83B8-0A8F50D4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15F57-2291-4642-9459-7F3B1740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761DE-1CFF-4C40-AAD1-98E4BC94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11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A72F-524B-4041-8533-C8D71D5A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2B403-D350-4258-836E-D943ECE8DD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78F21-8585-40BF-B941-B7899BB7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83589-B232-41DB-80C8-A157681E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DE8A3-2040-44B5-AF77-DD69FA69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4F778-3703-45E8-B4C4-C69C9ED1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2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AB8D-D304-4DEC-91E1-4DF6AB2B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2A179-0280-4C27-B094-FF044699A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EB6C-8321-47F2-B888-3101F22D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8B9AB-EB49-4F20-80C3-CD93D772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E43C-9548-4A19-8F4C-CC7C3281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60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1D92B-0300-4B36-A656-0D2FB0E3A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42EDF-3104-483A-98A1-E893D3AC3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D0762-4B4D-43E5-AB37-7F0D3E2B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46479-0756-4967-AC43-C26CC6F7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A0894-37F3-4A24-9227-09BC514F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801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C2B14-3722-4EE9-919C-794206D3E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A7D0F-74E6-467B-B22B-A131E0DEA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7A350-EFE8-4B2A-A158-22E27619B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66241-FFDB-4A0D-A8EC-B1143D66EDF3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3253E-C062-4097-8193-B741E3FE9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42E2B-F44B-4947-91AE-42EDC1405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C054C-F01E-449D-8715-FF1C3FE1E7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43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microsoft.com/office/2007/relationships/hdphoto" Target="../media/hdphoto1.wdp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4420A6FD-D14D-4256-9BCF-9F62DB107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11E9C1A-F318-438B-B455-D6DB58893554}"/>
              </a:ext>
            </a:extLst>
          </p:cNvPr>
          <p:cNvSpPr/>
          <p:nvPr/>
        </p:nvSpPr>
        <p:spPr>
          <a:xfrm>
            <a:off x="793789" y="1298510"/>
            <a:ext cx="10697171" cy="171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Enhancing Digital Accessibility with GPT-Powered Agents</a:t>
            </a:r>
            <a:endParaRPr lang="en-US" sz="5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25402D4-9C92-44EE-B26E-3D65999D523A}"/>
              </a:ext>
            </a:extLst>
          </p:cNvPr>
          <p:cNvSpPr/>
          <p:nvPr/>
        </p:nvSpPr>
        <p:spPr>
          <a:xfrm>
            <a:off x="793789" y="33032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Addressing UI Inaccessibility for Users with Disabilities</a:t>
            </a:r>
            <a:endParaRPr lang="en-US" sz="3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AE4B7F-6B97-4683-9E8D-53BDF2C76328}"/>
              </a:ext>
            </a:extLst>
          </p:cNvPr>
          <p:cNvSpPr txBox="1"/>
          <p:nvPr/>
        </p:nvSpPr>
        <p:spPr>
          <a:xfrm>
            <a:off x="8575040" y="4196080"/>
            <a:ext cx="4241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anose="02000000000000000000" pitchFamily="2" charset="0"/>
              </a:rPr>
              <a:t>Team Members:</a:t>
            </a:r>
          </a:p>
          <a:p>
            <a:endParaRPr lang="en-US" sz="2000" dirty="0">
              <a:solidFill>
                <a:schemeClr val="bg1"/>
              </a:solidFill>
              <a:latin typeface="Bahnschrift SemiBold" panose="020B0502040204020203" pitchFamily="34" charset="0"/>
              <a:ea typeface="Roboto Medium" panose="02000000000000000000" pitchFamily="2" charset="0"/>
            </a:endParaRPr>
          </a:p>
          <a:p>
            <a:r>
              <a:rPr lang="en-IN" sz="2000" b="0" i="0" u="none" strike="noStrike" dirty="0" err="1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Menahi</a:t>
            </a:r>
            <a:r>
              <a:rPr lang="en-IN" sz="2000" b="0" i="0" u="none" strike="noStrike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 </a:t>
            </a:r>
            <a:r>
              <a:rPr lang="en-IN" sz="2000" b="0" i="0" u="none" strike="noStrike" dirty="0" err="1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Shayan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​</a:t>
            </a:r>
            <a:b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</a:br>
            <a:r>
              <a:rPr lang="en-IN" sz="2000" b="0" i="0" u="none" strike="noStrike" dirty="0" err="1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Saloni</a:t>
            </a:r>
            <a:r>
              <a:rPr lang="en-IN" sz="2000" b="0" i="0" u="none" strike="noStrike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 </a:t>
            </a:r>
            <a:r>
              <a:rPr lang="en-IN" sz="2000" b="0" i="0" u="none" strike="noStrike" dirty="0" err="1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Tanpure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​</a:t>
            </a:r>
            <a:b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</a:br>
            <a:r>
              <a:rPr lang="en-IN" sz="2000" b="0" i="0" u="none" strike="noStrike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Koushik Bhaskar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​</a:t>
            </a:r>
            <a:b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</a:br>
            <a:r>
              <a:rPr lang="en-IN" sz="2000" b="0" i="0" u="none" strike="noStrike" dirty="0" err="1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Snigdha</a:t>
            </a:r>
            <a:r>
              <a:rPr lang="en-IN" sz="2000" b="0" i="0" u="none" strike="noStrike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 </a:t>
            </a:r>
            <a:r>
              <a:rPr lang="en-IN" sz="2000" b="0" i="0" u="none" strike="noStrike" dirty="0" err="1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Aleti</a:t>
            </a:r>
            <a: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​</a:t>
            </a:r>
            <a:br>
              <a:rPr lang="en-IN" sz="2000" b="0" i="0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</a:br>
            <a:r>
              <a:rPr lang="en-IN" sz="2000" b="0" i="0" u="none" strike="noStrike" dirty="0">
                <a:solidFill>
                  <a:schemeClr val="bg1"/>
                </a:solidFill>
                <a:effectLst/>
                <a:latin typeface="Bahnschrift SemiBold" panose="020B0502040204020203" pitchFamily="34" charset="0"/>
                <a:ea typeface="Roboto Medium" panose="02000000000000000000" pitchFamily="2" charset="0"/>
              </a:rPr>
              <a:t>Vinay Jayadev</a:t>
            </a:r>
            <a:endParaRPr lang="en-IN" sz="2000" dirty="0">
              <a:solidFill>
                <a:schemeClr val="bg1"/>
              </a:solidFill>
              <a:latin typeface="Bahnschrift SemiBold" panose="020B0502040204020203" pitchFamily="34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53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7F7C5958-57D7-480D-A07C-185265751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C8A2687-2AEA-46FF-B8D9-3F09B2251657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Introduction to the Problem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CA24B-730A-445D-9344-EBD8DA337CD5}"/>
              </a:ext>
            </a:extLst>
          </p:cNvPr>
          <p:cNvSpPr txBox="1"/>
          <p:nvPr/>
        </p:nvSpPr>
        <p:spPr>
          <a:xfrm>
            <a:off x="569615" y="1850590"/>
            <a:ext cx="11052770" cy="340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Digital interfaces often present challenges for users with disabilities, leading to exclusion and reduced autonomy.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Challenges</a:t>
            </a:r>
            <a:endParaRPr lang="en-US" sz="20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>
              <a:lnSpc>
                <a:spcPts val="2850"/>
              </a:lnSpc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Inconsistent accessibility standards across platforms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>
              <a:lnSpc>
                <a:spcPts val="2850"/>
              </a:lnSpc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Complex navigation structures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>
              <a:lnSpc>
                <a:spcPts val="2850"/>
              </a:lnSpc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Limited support for assistive technologies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Impact: Barriers to information, services, and opportunities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954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FE9B95BC-750C-402E-9BF4-2C513BC5C3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A22D4CE-94D8-4631-B82F-16AA8EE1C087}"/>
              </a:ext>
            </a:extLst>
          </p:cNvPr>
          <p:cNvSpPr/>
          <p:nvPr/>
        </p:nvSpPr>
        <p:spPr>
          <a:xfrm>
            <a:off x="742990" y="830342"/>
            <a:ext cx="68370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9C80EB-5AA0-466D-8517-1282AD6D5B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1503747"/>
              </p:ext>
            </p:extLst>
          </p:nvPr>
        </p:nvGraphicFramePr>
        <p:xfrm>
          <a:off x="472440" y="2214880"/>
          <a:ext cx="11247120" cy="3049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44BE27D4-0A77-4B80-810F-6E0F16A7D8CC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Technological Foundations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62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0AA2FFB9-7D00-49C6-8EE5-F757BE5138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8F5D0AC-D23B-47D2-B5CC-5F98DEF3A948}"/>
              </a:ext>
            </a:extLst>
          </p:cNvPr>
          <p:cNvGrpSpPr/>
          <p:nvPr/>
        </p:nvGrpSpPr>
        <p:grpSpPr>
          <a:xfrm>
            <a:off x="773074" y="1474606"/>
            <a:ext cx="4703166" cy="2953753"/>
            <a:chOff x="793790" y="1709976"/>
            <a:chExt cx="5322926" cy="3470433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AB528058-2D05-4C7A-80AE-C4113AB5C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790" y="1709976"/>
              <a:ext cx="963930" cy="1156811"/>
            </a:xfrm>
            <a:prstGeom prst="rect">
              <a:avLst/>
            </a:prstGeom>
          </p:spPr>
        </p:pic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50B0C461-E2F9-4BA3-B2E1-92178B560B63}"/>
                </a:ext>
              </a:extLst>
            </p:cNvPr>
            <p:cNvSpPr/>
            <p:nvPr/>
          </p:nvSpPr>
          <p:spPr>
            <a:xfrm>
              <a:off x="2046922" y="1902738"/>
              <a:ext cx="2939891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Voice-activated commands</a:t>
              </a:r>
            </a:p>
            <a:p>
              <a:pPr>
                <a:lnSpc>
                  <a:spcPts val="2350"/>
                </a:lnSpc>
              </a:pPr>
              <a:r>
                <a:rPr lang="en-US" sz="20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For hands-free interaction</a:t>
              </a:r>
              <a:endParaRPr lang="en-US" sz="20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6" name="Image 1" descr="preencoded.png">
              <a:extLst>
                <a:ext uri="{FF2B5EF4-FFF2-40B4-BE49-F238E27FC236}">
                  <a16:creationId xmlns:a16="http://schemas.microsoft.com/office/drawing/2014/main" id="{642F9FDA-73D4-482A-938F-19D50A742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3790" y="2866787"/>
              <a:ext cx="963930" cy="1156811"/>
            </a:xfrm>
            <a:prstGeom prst="rect">
              <a:avLst/>
            </a:prstGeom>
          </p:spPr>
        </p:pic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A421EA9A-0697-4E6B-8E99-D83D0F9CE4BD}"/>
                </a:ext>
              </a:extLst>
            </p:cNvPr>
            <p:cNvSpPr/>
            <p:nvPr/>
          </p:nvSpPr>
          <p:spPr>
            <a:xfrm>
              <a:off x="2046922" y="3059549"/>
              <a:ext cx="3752612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Screen reading and summarization</a:t>
              </a:r>
            </a:p>
            <a:p>
              <a:pPr>
                <a:lnSpc>
                  <a:spcPts val="2350"/>
                </a:lnSpc>
              </a:pPr>
              <a:r>
                <a:rPr lang="en-US" sz="20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Of content</a:t>
              </a:r>
              <a:endParaRPr lang="en-US" sz="20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3A2E7A3D-54C8-4CB1-BBDE-EF4F9CBEE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790" y="4023598"/>
              <a:ext cx="963930" cy="1156811"/>
            </a:xfrm>
            <a:prstGeom prst="rect">
              <a:avLst/>
            </a:prstGeom>
          </p:spPr>
        </p:pic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47F76C6B-F682-4605-A381-6F42F0C17768}"/>
                </a:ext>
              </a:extLst>
            </p:cNvPr>
            <p:cNvSpPr/>
            <p:nvPr/>
          </p:nvSpPr>
          <p:spPr>
            <a:xfrm>
              <a:off x="2046922" y="4216360"/>
              <a:ext cx="406979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8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Automated form filling and navigation</a:t>
              </a:r>
            </a:p>
            <a:p>
              <a:pPr>
                <a:lnSpc>
                  <a:spcPts val="2350"/>
                </a:lnSpc>
              </a:pPr>
              <a:r>
                <a:rPr lang="en-US" sz="20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For easier interface interaction</a:t>
              </a:r>
              <a:endParaRPr lang="en-US" sz="20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AC6E2C8-8EE2-4FD4-8C2A-7CE88BAD066B}"/>
              </a:ext>
            </a:extLst>
          </p:cNvPr>
          <p:cNvSpPr txBox="1"/>
          <p:nvPr/>
        </p:nvSpPr>
        <p:spPr>
          <a:xfrm>
            <a:off x="691794" y="4791584"/>
            <a:ext cx="11196320" cy="38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Objective:</a:t>
            </a: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 Develop an AI agent that assists users with disabilities in navigating digital interfaces.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592E6-B6A6-41E7-9517-26DFCC0E195A}"/>
              </a:ext>
            </a:extLst>
          </p:cNvPr>
          <p:cNvSpPr txBox="1"/>
          <p:nvPr/>
        </p:nvSpPr>
        <p:spPr>
          <a:xfrm>
            <a:off x="773074" y="5314325"/>
            <a:ext cx="6096000" cy="130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Expected Outcomes: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Enhanced autonomy for users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Reduced reliance on assistive technologies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Improved user experience and satisfaction</a:t>
            </a:r>
            <a:endParaRPr lang="en-US" sz="1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5414279-FD70-4186-B58D-4B02BC92BC80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Proposed Solution Overview</a:t>
            </a:r>
            <a:endParaRPr lang="en-US" sz="4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3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272FE815-DD63-4E55-98E7-161816D4B6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C12CBFA-0AFE-4E21-8C49-FBDB504DE6A6}"/>
              </a:ext>
            </a:extLst>
          </p:cNvPr>
          <p:cNvGrpSpPr/>
          <p:nvPr/>
        </p:nvGrpSpPr>
        <p:grpSpPr>
          <a:xfrm>
            <a:off x="558800" y="384294"/>
            <a:ext cx="11562080" cy="5672852"/>
            <a:chOff x="793790" y="1278374"/>
            <a:chExt cx="12816006" cy="5672852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933B040C-3BB6-4E1F-A22C-624CFA7D3962}"/>
                </a:ext>
              </a:extLst>
            </p:cNvPr>
            <p:cNvSpPr/>
            <p:nvPr/>
          </p:nvSpPr>
          <p:spPr>
            <a:xfrm>
              <a:off x="793790" y="1278374"/>
              <a:ext cx="5670590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endParaRPr lang="en-US" sz="44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801FEE08-DE11-4937-B411-E73933DD8A52}"/>
                </a:ext>
              </a:extLst>
            </p:cNvPr>
            <p:cNvSpPr/>
            <p:nvPr/>
          </p:nvSpPr>
          <p:spPr>
            <a:xfrm>
              <a:off x="793790" y="2440781"/>
              <a:ext cx="2173724" cy="1306949"/>
            </a:xfrm>
            <a:prstGeom prst="roundRect">
              <a:avLst>
                <a:gd name="adj" fmla="val 728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40DF104D-A6D5-4A5C-9F0F-5B471746F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1167" y="2894886"/>
              <a:ext cx="318968" cy="398621"/>
            </a:xfrm>
            <a:prstGeom prst="rect">
              <a:avLst/>
            </a:prstGeom>
          </p:spPr>
        </p:pic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8BA21C68-A91C-4C55-B111-440EF0F3DC9E}"/>
                </a:ext>
              </a:extLst>
            </p:cNvPr>
            <p:cNvSpPr/>
            <p:nvPr/>
          </p:nvSpPr>
          <p:spPr>
            <a:xfrm>
              <a:off x="3194328" y="266759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Input Layer</a:t>
              </a:r>
              <a:endParaRPr lang="en-US" sz="22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FCEC5665-C11E-476A-B248-C490DE900044}"/>
                </a:ext>
              </a:extLst>
            </p:cNvPr>
            <p:cNvSpPr/>
            <p:nvPr/>
          </p:nvSpPr>
          <p:spPr>
            <a:xfrm>
              <a:off x="3194328" y="3158014"/>
              <a:ext cx="6641902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User inputs via voice or text and visual data from the user's screen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4F300FE2-69A3-4DD6-A1EC-5DC6784D1A5F}"/>
                </a:ext>
              </a:extLst>
            </p:cNvPr>
            <p:cNvSpPr/>
            <p:nvPr/>
          </p:nvSpPr>
          <p:spPr>
            <a:xfrm>
              <a:off x="793790" y="3861078"/>
              <a:ext cx="4347567" cy="1306949"/>
            </a:xfrm>
            <a:prstGeom prst="roundRect">
              <a:avLst>
                <a:gd name="adj" fmla="val 728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pic>
          <p:nvPicPr>
            <p:cNvPr id="8" name="Image 1" descr="preencoded.png">
              <a:extLst>
                <a:ext uri="{FF2B5EF4-FFF2-40B4-BE49-F238E27FC236}">
                  <a16:creationId xmlns:a16="http://schemas.microsoft.com/office/drawing/2014/main" id="{FB6B9B7E-3607-43CD-9088-ACB7F2FA6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08089" y="4315182"/>
              <a:ext cx="318968" cy="398621"/>
            </a:xfrm>
            <a:prstGeom prst="rect">
              <a:avLst/>
            </a:prstGeom>
          </p:spPr>
        </p:pic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F8CCED9-25A6-48C9-B118-E0EE9E18979E}"/>
                </a:ext>
              </a:extLst>
            </p:cNvPr>
            <p:cNvSpPr/>
            <p:nvPr/>
          </p:nvSpPr>
          <p:spPr>
            <a:xfrm>
              <a:off x="5368171" y="408789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Processing Layer</a:t>
              </a:r>
              <a:endParaRPr lang="en-US" sz="22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C3E9C720-E745-4FE9-A53A-E5F1A7D35D03}"/>
                </a:ext>
              </a:extLst>
            </p:cNvPr>
            <p:cNvSpPr/>
            <p:nvPr/>
          </p:nvSpPr>
          <p:spPr>
            <a:xfrm>
              <a:off x="5368171" y="4498894"/>
              <a:ext cx="6935248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GPT-4o interprets inputs and screen content, CUA determines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appropriate actions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6B329B20-33CC-4CDB-AE4B-34AD8319D79C}"/>
                </a:ext>
              </a:extLst>
            </p:cNvPr>
            <p:cNvSpPr/>
            <p:nvPr/>
          </p:nvSpPr>
          <p:spPr>
            <a:xfrm>
              <a:off x="793790" y="5281374"/>
              <a:ext cx="6521410" cy="1669852"/>
            </a:xfrm>
            <a:prstGeom prst="roundRect">
              <a:avLst>
                <a:gd name="adj" fmla="val 5705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CFBEAE92-747B-4A9E-8C51-8ED0C4C08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5011" y="5916930"/>
              <a:ext cx="318968" cy="398621"/>
            </a:xfrm>
            <a:prstGeom prst="rect">
              <a:avLst/>
            </a:prstGeom>
          </p:spPr>
        </p:pic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05762403-7BB8-474F-BB36-9B6449EFE5DB}"/>
                </a:ext>
              </a:extLst>
            </p:cNvPr>
            <p:cNvSpPr/>
            <p:nvPr/>
          </p:nvSpPr>
          <p:spPr>
            <a:xfrm>
              <a:off x="7542014" y="550818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Output Layer</a:t>
              </a:r>
              <a:endParaRPr lang="en-US" sz="22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963EE342-BCF0-47DD-9750-284FB755D967}"/>
                </a:ext>
              </a:extLst>
            </p:cNvPr>
            <p:cNvSpPr/>
            <p:nvPr/>
          </p:nvSpPr>
          <p:spPr>
            <a:xfrm>
              <a:off x="7542014" y="5998607"/>
              <a:ext cx="6067782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Execution of tasks such as clicking, typing, and scrolling with feedback provided to the user via</a:t>
              </a:r>
            </a:p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audio or text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16" name="Text 0">
            <a:extLst>
              <a:ext uri="{FF2B5EF4-FFF2-40B4-BE49-F238E27FC236}">
                <a16:creationId xmlns:a16="http://schemas.microsoft.com/office/drawing/2014/main" id="{9C497B48-B972-4643-A005-ABCD676EE025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System Architecture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3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A87B1CB3-D345-4DC6-BE5C-389243D2C7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0AEE2B2-BBDC-448E-8DCE-043720CAC006}"/>
              </a:ext>
            </a:extLst>
          </p:cNvPr>
          <p:cNvGrpSpPr/>
          <p:nvPr/>
        </p:nvGrpSpPr>
        <p:grpSpPr>
          <a:xfrm>
            <a:off x="428030" y="458629"/>
            <a:ext cx="11276290" cy="5727382"/>
            <a:chOff x="428030" y="458629"/>
            <a:chExt cx="13042820" cy="5727382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B25769CC-45B0-4097-B979-DE38FBC31CBA}"/>
                </a:ext>
              </a:extLst>
            </p:cNvPr>
            <p:cNvSpPr/>
            <p:nvPr/>
          </p:nvSpPr>
          <p:spPr>
            <a:xfrm>
              <a:off x="428030" y="458629"/>
              <a:ext cx="7816215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endParaRPr lang="en-US" sz="44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6E160CC0-A315-45D9-B39B-4A0F10F2EA1D}"/>
                </a:ext>
              </a:extLst>
            </p:cNvPr>
            <p:cNvSpPr/>
            <p:nvPr/>
          </p:nvSpPr>
          <p:spPr>
            <a:xfrm>
              <a:off x="1378029" y="2490311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For Users</a:t>
              </a:r>
              <a:endParaRPr lang="en-US" sz="22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453F288D-ED72-4B63-85D6-C351DB7515DB}"/>
                </a:ext>
              </a:extLst>
            </p:cNvPr>
            <p:cNvSpPr/>
            <p:nvPr/>
          </p:nvSpPr>
          <p:spPr>
            <a:xfrm>
              <a:off x="428030" y="2980730"/>
              <a:ext cx="378523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Increased independence in digital environments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B4483246-A932-4B45-9863-12A64D8BB2F1}"/>
                </a:ext>
              </a:extLst>
            </p:cNvPr>
            <p:cNvSpPr/>
            <p:nvPr/>
          </p:nvSpPr>
          <p:spPr>
            <a:xfrm>
              <a:off x="428030" y="3785830"/>
              <a:ext cx="378523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Access to a wider range of online services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9661060C-67C4-4534-A6C2-45ED51902C03}"/>
                </a:ext>
              </a:extLst>
            </p:cNvPr>
            <p:cNvSpPr/>
            <p:nvPr/>
          </p:nvSpPr>
          <p:spPr>
            <a:xfrm>
              <a:off x="428030" y="4590931"/>
              <a:ext cx="3785235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Enhanced confidence in navigating digital interfaces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70227F21-B284-4D5D-91F5-17A12FBD7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6893" y="1621036"/>
              <a:ext cx="4564975" cy="4564975"/>
            </a:xfrm>
            <a:prstGeom prst="rect">
              <a:avLst/>
            </a:prstGeom>
          </p:spPr>
        </p:pic>
        <p:pic>
          <p:nvPicPr>
            <p:cNvPr id="8" name="Image 1" descr="preencoded.png">
              <a:extLst>
                <a:ext uri="{FF2B5EF4-FFF2-40B4-BE49-F238E27FC236}">
                  <a16:creationId xmlns:a16="http://schemas.microsoft.com/office/drawing/2014/main" id="{6AA37CD7-01CD-41B4-A930-3D640F633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4273" y="3704153"/>
              <a:ext cx="318968" cy="398621"/>
            </a:xfrm>
            <a:prstGeom prst="rect">
              <a:avLst/>
            </a:prstGeom>
          </p:spPr>
        </p:pic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497BE512-BA85-4AF0-8C07-1622198AD6ED}"/>
                </a:ext>
              </a:extLst>
            </p:cNvPr>
            <p:cNvSpPr/>
            <p:nvPr/>
          </p:nvSpPr>
          <p:spPr>
            <a:xfrm>
              <a:off x="9685496" y="2671763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For Developers</a:t>
              </a:r>
              <a:endParaRPr lang="en-US" sz="22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87E92BA6-C968-4141-93D1-695CA1107FD9}"/>
                </a:ext>
              </a:extLst>
            </p:cNvPr>
            <p:cNvSpPr/>
            <p:nvPr/>
          </p:nvSpPr>
          <p:spPr>
            <a:xfrm>
              <a:off x="9685496" y="3162181"/>
              <a:ext cx="3785354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Reduced need for extensive accessibility modifications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83499FBF-0CDE-49FC-B7EE-C7E5E2660CBC}"/>
                </a:ext>
              </a:extLst>
            </p:cNvPr>
            <p:cNvSpPr/>
            <p:nvPr/>
          </p:nvSpPr>
          <p:spPr>
            <a:xfrm>
              <a:off x="9685496" y="3967282"/>
              <a:ext cx="3785354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Broader user base and inclusivity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8A2B29A1-4DF2-4BC3-B30D-3B7EF2EB64E1}"/>
                </a:ext>
              </a:extLst>
            </p:cNvPr>
            <p:cNvSpPr/>
            <p:nvPr/>
          </p:nvSpPr>
          <p:spPr>
            <a:xfrm>
              <a:off x="9685496" y="4409480"/>
              <a:ext cx="3785354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r>
                <a:rPr lang="en-US" sz="17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Alignment with accessibility standards and regulations</a:t>
              </a:r>
              <a:endParaRPr lang="en-US" sz="17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13" name="Image 2" descr="preencoded.png">
              <a:extLst>
                <a:ext uri="{FF2B5EF4-FFF2-40B4-BE49-F238E27FC236}">
                  <a16:creationId xmlns:a16="http://schemas.microsoft.com/office/drawing/2014/main" id="{98114E07-C5DF-4C1E-BF21-51222D87B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6893" y="1621036"/>
              <a:ext cx="4564975" cy="4564975"/>
            </a:xfrm>
            <a:prstGeom prst="rect">
              <a:avLst/>
            </a:prstGeom>
          </p:spPr>
        </p:pic>
        <p:pic>
          <p:nvPicPr>
            <p:cNvPr id="14" name="Image 3" descr="preencoded.png">
              <a:extLst>
                <a:ext uri="{FF2B5EF4-FFF2-40B4-BE49-F238E27FC236}">
                  <a16:creationId xmlns:a16="http://schemas.microsoft.com/office/drawing/2014/main" id="{0FE176F7-C0BF-42C2-911E-9165640FA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65281" y="3704153"/>
              <a:ext cx="318968" cy="398621"/>
            </a:xfrm>
            <a:prstGeom prst="rect">
              <a:avLst/>
            </a:prstGeom>
          </p:spPr>
        </p:pic>
      </p:grpSp>
      <p:sp>
        <p:nvSpPr>
          <p:cNvPr id="16" name="Text 0">
            <a:extLst>
              <a:ext uri="{FF2B5EF4-FFF2-40B4-BE49-F238E27FC236}">
                <a16:creationId xmlns:a16="http://schemas.microsoft.com/office/drawing/2014/main" id="{B8C00283-150A-4EFE-8BB6-37FA03BB451F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Benefits and Value Proposition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022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F98B8222-3EFD-4242-B91F-277BDCA8A2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F797507-A6F7-41C9-B58C-D7D63CCE709A}"/>
              </a:ext>
            </a:extLst>
          </p:cNvPr>
          <p:cNvSpPr/>
          <p:nvPr/>
        </p:nvSpPr>
        <p:spPr>
          <a:xfrm>
            <a:off x="519470" y="734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60E7F3-218C-4EA9-9358-3C6179236473}"/>
              </a:ext>
            </a:extLst>
          </p:cNvPr>
          <p:cNvSpPr/>
          <p:nvPr/>
        </p:nvSpPr>
        <p:spPr>
          <a:xfrm>
            <a:off x="519470" y="20381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EAC92C1-71DD-4F44-9526-A563770F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0" y="2080657"/>
            <a:ext cx="340162" cy="42529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8D39045-FD05-487F-9F4B-6D83A6A47B27}"/>
              </a:ext>
            </a:extLst>
          </p:cNvPr>
          <p:cNvSpPr/>
          <p:nvPr/>
        </p:nvSpPr>
        <p:spPr>
          <a:xfrm>
            <a:off x="1256586" y="2038152"/>
            <a:ext cx="31855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Accessibility Compliance</a:t>
            </a:r>
            <a:endParaRPr lang="en-US" sz="220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1AC8F46-049E-4E3A-BD9E-65C38AE819CC}"/>
              </a:ext>
            </a:extLst>
          </p:cNvPr>
          <p:cNvSpPr/>
          <p:nvPr/>
        </p:nvSpPr>
        <p:spPr>
          <a:xfrm>
            <a:off x="1256587" y="2528570"/>
            <a:ext cx="45650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Assessment of adherence to standards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such as WCAG.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354B977-5ADC-4267-B15E-E36A130C9278}"/>
              </a:ext>
            </a:extLst>
          </p:cNvPr>
          <p:cNvSpPr/>
          <p:nvPr/>
        </p:nvSpPr>
        <p:spPr>
          <a:xfrm>
            <a:off x="6026587" y="20381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E648155-AB17-4216-8C78-8838961A2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657" y="2080657"/>
            <a:ext cx="340162" cy="42529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1E28B6E-7864-4D7F-B845-F2E81D0E8A32}"/>
              </a:ext>
            </a:extLst>
          </p:cNvPr>
          <p:cNvSpPr/>
          <p:nvPr/>
        </p:nvSpPr>
        <p:spPr>
          <a:xfrm>
            <a:off x="6763703" y="20381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User Satisfaction</a:t>
            </a:r>
            <a:endParaRPr lang="en-US" sz="220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99F6603-5B3C-42B9-8A1A-94962C27B606}"/>
              </a:ext>
            </a:extLst>
          </p:cNvPr>
          <p:cNvSpPr/>
          <p:nvPr/>
        </p:nvSpPr>
        <p:spPr>
          <a:xfrm>
            <a:off x="6763703" y="2528570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Surveys and feedback from users with disabilities.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41B2739-5A51-4354-8902-0C9DC862A35B}"/>
              </a:ext>
            </a:extLst>
          </p:cNvPr>
          <p:cNvSpPr/>
          <p:nvPr/>
        </p:nvSpPr>
        <p:spPr>
          <a:xfrm>
            <a:off x="519470" y="3373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F95E791F-1897-481B-B2C2-A2067B74A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540" y="3415943"/>
            <a:ext cx="340162" cy="425291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8D09BC1-BE37-41C0-A111-E490E52F90B2}"/>
              </a:ext>
            </a:extLst>
          </p:cNvPr>
          <p:cNvSpPr/>
          <p:nvPr/>
        </p:nvSpPr>
        <p:spPr>
          <a:xfrm>
            <a:off x="1256586" y="33734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Task Efficiency</a:t>
            </a:r>
            <a:endParaRPr lang="en-US" sz="220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2C279FE-EB55-4012-82B8-2B85805AB698}"/>
              </a:ext>
            </a:extLst>
          </p:cNvPr>
          <p:cNvSpPr/>
          <p:nvPr/>
        </p:nvSpPr>
        <p:spPr>
          <a:xfrm>
            <a:off x="1256586" y="3863856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Measurement of time and steps required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to complete tasks.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C41006A-0227-40A3-99D2-3978175CFD19}"/>
              </a:ext>
            </a:extLst>
          </p:cNvPr>
          <p:cNvSpPr/>
          <p:nvPr/>
        </p:nvSpPr>
        <p:spPr>
          <a:xfrm>
            <a:off x="6026587" y="33734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275FDEB-56EF-4EBE-AA0E-DCF0E9676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657" y="3415943"/>
            <a:ext cx="340162" cy="425291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20066949-C2BC-46D2-AABE-444F6014F494}"/>
              </a:ext>
            </a:extLst>
          </p:cNvPr>
          <p:cNvSpPr/>
          <p:nvPr/>
        </p:nvSpPr>
        <p:spPr>
          <a:xfrm>
            <a:off x="6763703" y="33734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Error Rate</a:t>
            </a:r>
            <a:endParaRPr lang="en-US" sz="220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C7B68B2-3082-4A59-AA5B-395F37ABB214}"/>
              </a:ext>
            </a:extLst>
          </p:cNvPr>
          <p:cNvSpPr/>
          <p:nvPr/>
        </p:nvSpPr>
        <p:spPr>
          <a:xfrm>
            <a:off x="6763703" y="3863856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Frequency of incorrect or failed actions.</a:t>
            </a:r>
            <a:endParaRPr lang="en-US" sz="175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915DCB4D-1470-4D28-BA14-CFBBF9250E23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Evaluation Metrics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52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400DF47A-08CF-45EB-806F-E1B5D35CC5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1101F1F-FA8B-4CAC-B65A-A56CDB713543}"/>
              </a:ext>
            </a:extLst>
          </p:cNvPr>
          <p:cNvSpPr/>
          <p:nvPr/>
        </p:nvSpPr>
        <p:spPr>
          <a:xfrm>
            <a:off x="703600" y="759976"/>
            <a:ext cx="84592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1E641D-1BC3-45B1-B883-5BBB77994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917" y="2179955"/>
            <a:ext cx="566976" cy="56697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5EF5D47-3796-4586-8298-F9062BC9FC4A}"/>
              </a:ext>
            </a:extLst>
          </p:cNvPr>
          <p:cNvSpPr/>
          <p:nvPr/>
        </p:nvSpPr>
        <p:spPr>
          <a:xfrm>
            <a:off x="2089706" y="2140308"/>
            <a:ext cx="22117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Data Privacy</a:t>
            </a:r>
            <a:endParaRPr lang="en-US" sz="2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FD36D6D-F344-4DCC-9283-DBC89592EC81}"/>
              </a:ext>
            </a:extLst>
          </p:cNvPr>
          <p:cNvSpPr/>
          <p:nvPr/>
        </p:nvSpPr>
        <p:spPr>
          <a:xfrm>
            <a:off x="2089706" y="2630726"/>
            <a:ext cx="22117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Ensuring user data is handled securely and confidentially.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E8D8CBE1-30EC-4535-9EB9-62963E528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689" y="2179955"/>
            <a:ext cx="566976" cy="56697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84F1BA6-6C66-4422-BD55-0AB28358D6EE}"/>
              </a:ext>
            </a:extLst>
          </p:cNvPr>
          <p:cNvSpPr/>
          <p:nvPr/>
        </p:nvSpPr>
        <p:spPr>
          <a:xfrm>
            <a:off x="7343479" y="2140308"/>
            <a:ext cx="2211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Bias Mitigation</a:t>
            </a:r>
            <a:endParaRPr lang="en-US" sz="2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9C2FA69-252C-4F99-A6FF-E197A51CB60B}"/>
              </a:ext>
            </a:extLst>
          </p:cNvPr>
          <p:cNvSpPr/>
          <p:nvPr/>
        </p:nvSpPr>
        <p:spPr>
          <a:xfrm>
            <a:off x="7343479" y="2630726"/>
            <a:ext cx="22118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Addressing potential biases in AI decision-making processes.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B8B7FCE0-68CD-49E6-9F2A-61A29B858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400" y="4403010"/>
            <a:ext cx="566976" cy="56697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77ED6C99-B0D2-4B2E-A0A3-37160B0D481D}"/>
              </a:ext>
            </a:extLst>
          </p:cNvPr>
          <p:cNvSpPr/>
          <p:nvPr/>
        </p:nvSpPr>
        <p:spPr>
          <a:xfrm>
            <a:off x="2056190" y="4363363"/>
            <a:ext cx="2211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User Autonomy</a:t>
            </a:r>
            <a:endParaRPr lang="en-US" sz="2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0002AA5-9453-4418-B810-753FFD1CFC7D}"/>
              </a:ext>
            </a:extLst>
          </p:cNvPr>
          <p:cNvSpPr/>
          <p:nvPr/>
        </p:nvSpPr>
        <p:spPr>
          <a:xfrm>
            <a:off x="2056190" y="4853781"/>
            <a:ext cx="221182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Maintaining user control over AI actions and decisions.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30683939-4C3F-49D8-AC69-8FBF51FA6A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689" y="4403010"/>
            <a:ext cx="566976" cy="56697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0BBBE71B-564D-4643-BDA2-DCC6547F6EA9}"/>
              </a:ext>
            </a:extLst>
          </p:cNvPr>
          <p:cNvSpPr/>
          <p:nvPr/>
        </p:nvSpPr>
        <p:spPr>
          <a:xfrm>
            <a:off x="7343478" y="4363363"/>
            <a:ext cx="2211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Inclusivity</a:t>
            </a:r>
            <a:endParaRPr lang="en-US" sz="22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9C8F31C-7853-422B-8DE8-5BD333B38267}"/>
              </a:ext>
            </a:extLst>
          </p:cNvPr>
          <p:cNvSpPr/>
          <p:nvPr/>
        </p:nvSpPr>
        <p:spPr>
          <a:xfrm>
            <a:off x="7343478" y="4853781"/>
            <a:ext cx="22118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Bahnschrift SemiBold" panose="020B0502040204020203" pitchFamily="34" charset="0"/>
                <a:ea typeface="Roboto" pitchFamily="34" charset="-122"/>
                <a:cs typeface="Roboto" pitchFamily="34" charset="-120"/>
              </a:rPr>
              <a:t>Designing solutions that cater to a diverse range of disabilities.</a:t>
            </a:r>
            <a:endParaRPr lang="en-US" sz="17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46F1AAB9-3FAF-4FEF-B377-9DB565BEE8EC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Ethical and Social Considerations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998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25C5043D-32D5-462B-83BD-07EC6A165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F44B68D-01A7-44EF-97FF-1C23B25A4C91}"/>
              </a:ext>
            </a:extLst>
          </p:cNvPr>
          <p:cNvGrpSpPr/>
          <p:nvPr/>
        </p:nvGrpSpPr>
        <p:grpSpPr>
          <a:xfrm>
            <a:off x="793791" y="834629"/>
            <a:ext cx="9731969" cy="5220732"/>
            <a:chOff x="793790" y="834628"/>
            <a:chExt cx="12986147" cy="6560225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EA1EBAFD-F83F-4035-B124-8898F596021F}"/>
                </a:ext>
              </a:extLst>
            </p:cNvPr>
            <p:cNvSpPr/>
            <p:nvPr/>
          </p:nvSpPr>
          <p:spPr>
            <a:xfrm>
              <a:off x="793790" y="834628"/>
              <a:ext cx="5670590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endParaRPr lang="en-US" sz="44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3" name="Image 0" descr="preencoded.png">
              <a:extLst>
                <a:ext uri="{FF2B5EF4-FFF2-40B4-BE49-F238E27FC236}">
                  <a16:creationId xmlns:a16="http://schemas.microsoft.com/office/drawing/2014/main" id="{2B99CBD5-E9F0-46E7-8683-4D892FD53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7430" y="1997035"/>
              <a:ext cx="1614011" cy="1306949"/>
            </a:xfrm>
            <a:prstGeom prst="rect">
              <a:avLst/>
            </a:prstGeom>
          </p:spPr>
        </p:pic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249BC117-4DF0-47C1-A0A9-E674E78F8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4892" y="2613065"/>
              <a:ext cx="318968" cy="398621"/>
            </a:xfrm>
            <a:prstGeom prst="rect">
              <a:avLst/>
            </a:prstGeom>
          </p:spPr>
        </p:pic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8B0D5C9D-56A3-44F4-B0DE-FA855FD52EDB}"/>
                </a:ext>
              </a:extLst>
            </p:cNvPr>
            <p:cNvSpPr/>
            <p:nvPr/>
          </p:nvSpPr>
          <p:spPr>
            <a:xfrm>
              <a:off x="5088255" y="2223849"/>
              <a:ext cx="4297799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Integration with Wearable Devices</a:t>
              </a:r>
              <a:endParaRPr lang="en-US" sz="22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A07DD1CD-AE64-4FDA-978A-E78E8CD03000}"/>
                </a:ext>
              </a:extLst>
            </p:cNvPr>
            <p:cNvSpPr/>
            <p:nvPr/>
          </p:nvSpPr>
          <p:spPr>
            <a:xfrm>
              <a:off x="5088255" y="2714268"/>
              <a:ext cx="662987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Enhancing real-time assistance through smart glasses or watches</a:t>
              </a:r>
              <a:endParaRPr lang="en-US" sz="17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3E2C0019-19B1-41B4-83E1-0F9F09EDF817}"/>
                </a:ext>
              </a:extLst>
            </p:cNvPr>
            <p:cNvSpPr/>
            <p:nvPr/>
          </p:nvSpPr>
          <p:spPr>
            <a:xfrm>
              <a:off x="4918115" y="3317081"/>
              <a:ext cx="8861822" cy="15240"/>
            </a:xfrm>
            <a:prstGeom prst="roundRect">
              <a:avLst>
                <a:gd name="adj" fmla="val 625116"/>
              </a:avLst>
            </a:prstGeom>
            <a:solidFill>
              <a:srgbClr val="313E80"/>
            </a:solidFill>
            <a:ln/>
          </p:spPr>
        </p:sp>
        <p:pic>
          <p:nvPicPr>
            <p:cNvPr id="8" name="Image 2" descr="preencoded.png">
              <a:extLst>
                <a:ext uri="{FF2B5EF4-FFF2-40B4-BE49-F238E27FC236}">
                  <a16:creationId xmlns:a16="http://schemas.microsoft.com/office/drawing/2014/main" id="{16394326-1A6F-475A-BFCF-EF05FD0BE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40424" y="3360658"/>
              <a:ext cx="3228022" cy="1306949"/>
            </a:xfrm>
            <a:prstGeom prst="rect">
              <a:avLst/>
            </a:prstGeom>
          </p:spPr>
        </p:pic>
        <p:pic>
          <p:nvPicPr>
            <p:cNvPr id="9" name="Image 3" descr="preencoded.png">
              <a:extLst>
                <a:ext uri="{FF2B5EF4-FFF2-40B4-BE49-F238E27FC236}">
                  <a16:creationId xmlns:a16="http://schemas.microsoft.com/office/drawing/2014/main" id="{C6FE1CDB-2408-4875-B62E-F5C06373B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4892" y="3814762"/>
              <a:ext cx="318968" cy="398621"/>
            </a:xfrm>
            <a:prstGeom prst="rect">
              <a:avLst/>
            </a:prstGeom>
          </p:spPr>
        </p:pic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D2777C9D-985E-4D32-B3C1-C8F6ACA79D4F}"/>
                </a:ext>
              </a:extLst>
            </p:cNvPr>
            <p:cNvSpPr/>
            <p:nvPr/>
          </p:nvSpPr>
          <p:spPr>
            <a:xfrm>
              <a:off x="5895261" y="358747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Multilingual Support</a:t>
              </a:r>
              <a:endParaRPr lang="en-US" sz="220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F79ED59A-52B4-4D5D-9330-54D82C753E1B}"/>
                </a:ext>
              </a:extLst>
            </p:cNvPr>
            <p:cNvSpPr/>
            <p:nvPr/>
          </p:nvSpPr>
          <p:spPr>
            <a:xfrm>
              <a:off x="5895261" y="4077891"/>
              <a:ext cx="4896803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Expanding accessibility for non-English speakers</a:t>
              </a:r>
              <a:endParaRPr lang="en-US" sz="17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C6543D33-3F65-442F-A181-81997D4680BF}"/>
                </a:ext>
              </a:extLst>
            </p:cNvPr>
            <p:cNvSpPr/>
            <p:nvPr/>
          </p:nvSpPr>
          <p:spPr>
            <a:xfrm>
              <a:off x="5725120" y="4680704"/>
              <a:ext cx="8054816" cy="15240"/>
            </a:xfrm>
            <a:prstGeom prst="roundRect">
              <a:avLst>
                <a:gd name="adj" fmla="val 625116"/>
              </a:avLst>
            </a:prstGeom>
            <a:solidFill>
              <a:srgbClr val="313E80"/>
            </a:solidFill>
            <a:ln/>
          </p:spPr>
        </p:sp>
        <p:pic>
          <p:nvPicPr>
            <p:cNvPr id="13" name="Image 4" descr="preencoded.png">
              <a:extLst>
                <a:ext uri="{FF2B5EF4-FFF2-40B4-BE49-F238E27FC236}">
                  <a16:creationId xmlns:a16="http://schemas.microsoft.com/office/drawing/2014/main" id="{2C36752D-A580-4B6B-9477-62EF2BBB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33418" y="4724281"/>
              <a:ext cx="4842034" cy="1306949"/>
            </a:xfrm>
            <a:prstGeom prst="rect">
              <a:avLst/>
            </a:prstGeom>
          </p:spPr>
        </p:pic>
        <p:pic>
          <p:nvPicPr>
            <p:cNvPr id="14" name="Image 5" descr="preencoded.png">
              <a:extLst>
                <a:ext uri="{FF2B5EF4-FFF2-40B4-BE49-F238E27FC236}">
                  <a16:creationId xmlns:a16="http://schemas.microsoft.com/office/drawing/2014/main" id="{599B17D9-7819-4FE5-97F1-D5780B56B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94892" y="5178385"/>
              <a:ext cx="318968" cy="398621"/>
            </a:xfrm>
            <a:prstGeom prst="rect">
              <a:avLst/>
            </a:prstGeom>
          </p:spPr>
        </p:pic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E4201842-5D86-4DCE-B539-ED32D03D0177}"/>
                </a:ext>
              </a:extLst>
            </p:cNvPr>
            <p:cNvSpPr/>
            <p:nvPr/>
          </p:nvSpPr>
          <p:spPr>
            <a:xfrm>
              <a:off x="6702266" y="495109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Adaptive Learning</a:t>
              </a:r>
              <a:endParaRPr lang="en-US" sz="220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F789C200-5E1D-47B4-8D3B-980938BF8585}"/>
                </a:ext>
              </a:extLst>
            </p:cNvPr>
            <p:cNvSpPr/>
            <p:nvPr/>
          </p:nvSpPr>
          <p:spPr>
            <a:xfrm>
              <a:off x="6702266" y="5441513"/>
              <a:ext cx="6593443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Personalizing assistance based on user behavior and preferences</a:t>
              </a:r>
              <a:endParaRPr lang="en-US" sz="17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A6164D30-CD45-41D6-92EC-431E1ED370A5}"/>
                </a:ext>
              </a:extLst>
            </p:cNvPr>
            <p:cNvSpPr/>
            <p:nvPr/>
          </p:nvSpPr>
          <p:spPr>
            <a:xfrm>
              <a:off x="6532126" y="6044327"/>
              <a:ext cx="7247811" cy="15240"/>
            </a:xfrm>
            <a:prstGeom prst="roundRect">
              <a:avLst>
                <a:gd name="adj" fmla="val 625116"/>
              </a:avLst>
            </a:prstGeom>
            <a:solidFill>
              <a:srgbClr val="313E80"/>
            </a:solidFill>
            <a:ln/>
          </p:spPr>
        </p:sp>
        <p:pic>
          <p:nvPicPr>
            <p:cNvPr id="18" name="Image 6" descr="preencoded.png">
              <a:extLst>
                <a:ext uri="{FF2B5EF4-FFF2-40B4-BE49-F238E27FC236}">
                  <a16:creationId xmlns:a16="http://schemas.microsoft.com/office/drawing/2014/main" id="{7E08F850-C800-4598-A333-FF06F3522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6294" y="6087904"/>
              <a:ext cx="6456164" cy="1306949"/>
            </a:xfrm>
            <a:prstGeom prst="rect">
              <a:avLst/>
            </a:prstGeom>
          </p:spPr>
        </p:pic>
        <p:pic>
          <p:nvPicPr>
            <p:cNvPr id="19" name="Image 7" descr="preencoded.png">
              <a:extLst>
                <a:ext uri="{FF2B5EF4-FFF2-40B4-BE49-F238E27FC236}">
                  <a16:creationId xmlns:a16="http://schemas.microsoft.com/office/drawing/2014/main" id="{D6B572A1-B6B5-4128-BD9E-BFC582DC0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94773" y="6542008"/>
              <a:ext cx="318968" cy="398621"/>
            </a:xfrm>
            <a:prstGeom prst="rect">
              <a:avLst/>
            </a:prstGeom>
          </p:spPr>
        </p:pic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EC1FFDB4-D39A-48F5-A975-E79CFB50F02C}"/>
                </a:ext>
              </a:extLst>
            </p:cNvPr>
            <p:cNvSpPr/>
            <p:nvPr/>
          </p:nvSpPr>
          <p:spPr>
            <a:xfrm>
              <a:off x="7509272" y="6314718"/>
              <a:ext cx="5812631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Collaboration with Accessibility Organizations</a:t>
              </a:r>
              <a:endParaRPr lang="en-US" sz="220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6FDA7D05-0923-4A25-9693-611661F67B79}"/>
                </a:ext>
              </a:extLst>
            </p:cNvPr>
            <p:cNvSpPr/>
            <p:nvPr/>
          </p:nvSpPr>
          <p:spPr>
            <a:xfrm>
              <a:off x="7509272" y="6805136"/>
              <a:ext cx="5812631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Ensuring solutions meet real-world needs and standards</a:t>
              </a:r>
              <a:endParaRPr lang="en-US" sz="17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23" name="Text 0">
            <a:extLst>
              <a:ext uri="{FF2B5EF4-FFF2-40B4-BE49-F238E27FC236}">
                <a16:creationId xmlns:a16="http://schemas.microsoft.com/office/drawing/2014/main" id="{ACE7961A-2FE0-4423-B82A-0A66DC94882A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Future Directions</a:t>
            </a:r>
            <a:endParaRPr lang="en-US" sz="445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7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 descr="20+ Top Free Artificial Intelligence PPT Presentation PowerPoint Templates  (2025)">
            <a:extLst>
              <a:ext uri="{FF2B5EF4-FFF2-40B4-BE49-F238E27FC236}">
                <a16:creationId xmlns:a16="http://schemas.microsoft.com/office/drawing/2014/main" id="{6EA8DEC6-0EF2-4606-9194-D461CBCD1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562"/>
          <a:stretch/>
        </p:blipFill>
        <p:spPr bwMode="auto">
          <a:xfrm>
            <a:off x="0" y="-595739"/>
            <a:ext cx="12192000" cy="852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B8FE7DC-9F11-41AD-871E-CF5A25FC4495}"/>
              </a:ext>
            </a:extLst>
          </p:cNvPr>
          <p:cNvGrpSpPr/>
          <p:nvPr/>
        </p:nvGrpSpPr>
        <p:grpSpPr>
          <a:xfrm>
            <a:off x="723900" y="388178"/>
            <a:ext cx="10744200" cy="5681351"/>
            <a:chOff x="777240" y="610672"/>
            <a:chExt cx="13075920" cy="6810137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8AB9E8AB-DB0C-4918-B91E-7FB889551B4B}"/>
                </a:ext>
              </a:extLst>
            </p:cNvPr>
            <p:cNvSpPr/>
            <p:nvPr/>
          </p:nvSpPr>
          <p:spPr>
            <a:xfrm>
              <a:off x="777240" y="610672"/>
              <a:ext cx="4997172" cy="6246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900"/>
                </a:lnSpc>
                <a:buNone/>
              </a:pPr>
              <a:endParaRPr lang="en-US" sz="390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D63D4EB8-E093-4970-A5A1-E61A95D8ED0B}"/>
                </a:ext>
              </a:extLst>
            </p:cNvPr>
            <p:cNvSpPr/>
            <p:nvPr/>
          </p:nvSpPr>
          <p:spPr>
            <a:xfrm>
              <a:off x="7303769" y="1859756"/>
              <a:ext cx="45721" cy="4614089"/>
            </a:xfrm>
            <a:prstGeom prst="roundRect">
              <a:avLst>
                <a:gd name="adj" fmla="val 367249"/>
              </a:avLst>
            </a:prstGeom>
            <a:solidFill>
              <a:srgbClr val="313E80"/>
            </a:solidFill>
            <a:ln/>
          </p:spPr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7FE764E-A1F2-4E4D-A916-CB1A62E630A4}"/>
                </a:ext>
              </a:extLst>
            </p:cNvPr>
            <p:cNvSpPr/>
            <p:nvPr/>
          </p:nvSpPr>
          <p:spPr>
            <a:xfrm>
              <a:off x="6513612" y="2073116"/>
              <a:ext cx="599599" cy="22860"/>
            </a:xfrm>
            <a:prstGeom prst="roundRect">
              <a:avLst>
                <a:gd name="adj" fmla="val 367249"/>
              </a:avLst>
            </a:prstGeom>
            <a:solidFill>
              <a:srgbClr val="313E80"/>
            </a:solidFill>
            <a:ln/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76F29CF4-3D58-4CC3-8E94-CD039AB308C6}"/>
                </a:ext>
              </a:extLst>
            </p:cNvPr>
            <p:cNvSpPr/>
            <p:nvPr/>
          </p:nvSpPr>
          <p:spPr>
            <a:xfrm>
              <a:off x="7090350" y="1859756"/>
              <a:ext cx="449699" cy="449699"/>
            </a:xfrm>
            <a:prstGeom prst="roundRect">
              <a:avLst>
                <a:gd name="adj" fmla="val 1866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954B8AB8-A930-4410-83F0-165685F3E873}"/>
                </a:ext>
              </a:extLst>
            </p:cNvPr>
            <p:cNvSpPr/>
            <p:nvPr/>
          </p:nvSpPr>
          <p:spPr>
            <a:xfrm>
              <a:off x="7165241" y="1925319"/>
              <a:ext cx="299799" cy="3465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23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1</a:t>
              </a:r>
              <a:endParaRPr lang="en-US" sz="23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5B3AEBF3-3AF0-4D9A-AA70-4A9D4CB88BE6}"/>
                </a:ext>
              </a:extLst>
            </p:cNvPr>
            <p:cNvSpPr/>
            <p:nvPr/>
          </p:nvSpPr>
          <p:spPr>
            <a:xfrm>
              <a:off x="2125742" y="1834753"/>
              <a:ext cx="4190048" cy="31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450"/>
                </a:lnSpc>
                <a:buNone/>
              </a:pPr>
              <a:r>
                <a:rPr lang="en-US" sz="195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OpenAI. (2025). Introducing Operator.</a:t>
              </a:r>
              <a:endParaRPr lang="en-US" sz="19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DA532C5-6365-431F-B416-A34C455B306A}"/>
                </a:ext>
              </a:extLst>
            </p:cNvPr>
            <p:cNvSpPr/>
            <p:nvPr/>
          </p:nvSpPr>
          <p:spPr>
            <a:xfrm>
              <a:off x="777240" y="2266950"/>
              <a:ext cx="5538549" cy="6396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500"/>
                </a:lnSpc>
                <a:buNone/>
              </a:pPr>
              <a:r>
                <a:rPr lang="en-US" sz="15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Retrieved from https://openai.com/index/introducing-operator/</a:t>
              </a:r>
              <a:endParaRPr lang="en-US" sz="15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12F5698E-B2A7-4993-9E23-1473C30FA8B2}"/>
                </a:ext>
              </a:extLst>
            </p:cNvPr>
            <p:cNvSpPr/>
            <p:nvPr/>
          </p:nvSpPr>
          <p:spPr>
            <a:xfrm>
              <a:off x="7517190" y="3072408"/>
              <a:ext cx="599599" cy="22860"/>
            </a:xfrm>
            <a:prstGeom prst="roundRect">
              <a:avLst>
                <a:gd name="adj" fmla="val 367249"/>
              </a:avLst>
            </a:prstGeom>
            <a:solidFill>
              <a:srgbClr val="313E80"/>
            </a:solidFill>
            <a:ln/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682A1BE0-18B8-492E-A664-E2D7A237A69B}"/>
                </a:ext>
              </a:extLst>
            </p:cNvPr>
            <p:cNvSpPr/>
            <p:nvPr/>
          </p:nvSpPr>
          <p:spPr>
            <a:xfrm>
              <a:off x="7090350" y="2859048"/>
              <a:ext cx="449699" cy="449699"/>
            </a:xfrm>
            <a:prstGeom prst="roundRect">
              <a:avLst>
                <a:gd name="adj" fmla="val 1866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0E437CB-311D-487C-AF1D-FD2F1EF87D1F}"/>
                </a:ext>
              </a:extLst>
            </p:cNvPr>
            <p:cNvSpPr/>
            <p:nvPr/>
          </p:nvSpPr>
          <p:spPr>
            <a:xfrm>
              <a:off x="7176729" y="2945188"/>
              <a:ext cx="299799" cy="29741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23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2</a:t>
              </a:r>
              <a:endParaRPr lang="en-US" sz="23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081FCB18-D58E-40AB-9825-1C5EBC699B68}"/>
                </a:ext>
              </a:extLst>
            </p:cNvPr>
            <p:cNvSpPr/>
            <p:nvPr/>
          </p:nvSpPr>
          <p:spPr>
            <a:xfrm>
              <a:off x="8314611" y="2834045"/>
              <a:ext cx="4449366" cy="31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OpenAI. (2025). Computer-Using Agent.</a:t>
              </a:r>
              <a:endParaRPr lang="en-US" sz="19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0B78DEFE-472A-4184-8C52-18C3BDF14405}"/>
                </a:ext>
              </a:extLst>
            </p:cNvPr>
            <p:cNvSpPr/>
            <p:nvPr/>
          </p:nvSpPr>
          <p:spPr>
            <a:xfrm>
              <a:off x="8314611" y="3266242"/>
              <a:ext cx="5538549" cy="6396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Retrieved from https://openai.com/index/computer-using-agent/</a:t>
              </a:r>
              <a:endParaRPr lang="en-US" sz="15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6FE78634-47DB-45A9-AF90-47377E45D5BF}"/>
                </a:ext>
              </a:extLst>
            </p:cNvPr>
            <p:cNvSpPr/>
            <p:nvPr/>
          </p:nvSpPr>
          <p:spPr>
            <a:xfrm>
              <a:off x="6513612" y="3971806"/>
              <a:ext cx="599599" cy="22860"/>
            </a:xfrm>
            <a:prstGeom prst="roundRect">
              <a:avLst>
                <a:gd name="adj" fmla="val 367249"/>
              </a:avLst>
            </a:prstGeom>
            <a:solidFill>
              <a:srgbClr val="313E80"/>
            </a:solidFill>
            <a:ln/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8249B882-0B1E-44CE-A3AE-34D55EE35230}"/>
                </a:ext>
              </a:extLst>
            </p:cNvPr>
            <p:cNvSpPr/>
            <p:nvPr/>
          </p:nvSpPr>
          <p:spPr>
            <a:xfrm>
              <a:off x="7090350" y="3758446"/>
              <a:ext cx="449699" cy="449699"/>
            </a:xfrm>
            <a:prstGeom prst="roundRect">
              <a:avLst>
                <a:gd name="adj" fmla="val 1866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D5B199D3-C611-4B77-A0F6-A3FBAA6B460D}"/>
                </a:ext>
              </a:extLst>
            </p:cNvPr>
            <p:cNvSpPr/>
            <p:nvPr/>
          </p:nvSpPr>
          <p:spPr>
            <a:xfrm>
              <a:off x="7165241" y="3852237"/>
              <a:ext cx="299799" cy="3746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23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3</a:t>
              </a:r>
              <a:endParaRPr lang="en-US" sz="23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950F5664-7EF9-44C8-9281-D9102B72D568}"/>
                </a:ext>
              </a:extLst>
            </p:cNvPr>
            <p:cNvSpPr/>
            <p:nvPr/>
          </p:nvSpPr>
          <p:spPr>
            <a:xfrm>
              <a:off x="777240" y="3733443"/>
              <a:ext cx="5538549" cy="6246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450"/>
                </a:lnSpc>
                <a:buNone/>
              </a:pPr>
              <a:r>
                <a:rPr lang="en-US" sz="195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Ahmed, A., Fresco, M., Forsberg, F., &amp; Grotli, H. (2025).</a:t>
              </a:r>
              <a:endParaRPr lang="en-US" sz="19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D821BD1D-EA6D-446B-8A9A-664F976197AE}"/>
                </a:ext>
              </a:extLst>
            </p:cNvPr>
            <p:cNvSpPr/>
            <p:nvPr/>
          </p:nvSpPr>
          <p:spPr>
            <a:xfrm>
              <a:off x="777240" y="4477941"/>
              <a:ext cx="5538549" cy="9594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500"/>
                </a:lnSpc>
                <a:buNone/>
              </a:pPr>
              <a:r>
                <a:rPr lang="en-US" sz="15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From Code to Compliance: Assessing ChatGPT's Utility in Designing an Accessible Webpage -- A Case Study. arXiv preprint arXiv:2501.03572.</a:t>
              </a:r>
              <a:endParaRPr lang="en-US" sz="15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204A914C-5F11-4DD9-A0C1-2E7AA4C5759F}"/>
                </a:ext>
              </a:extLst>
            </p:cNvPr>
            <p:cNvSpPr/>
            <p:nvPr/>
          </p:nvSpPr>
          <p:spPr>
            <a:xfrm>
              <a:off x="7517190" y="5123378"/>
              <a:ext cx="599599" cy="22860"/>
            </a:xfrm>
            <a:prstGeom prst="roundRect">
              <a:avLst>
                <a:gd name="adj" fmla="val 367249"/>
              </a:avLst>
            </a:prstGeom>
            <a:solidFill>
              <a:srgbClr val="313E80"/>
            </a:solidFill>
            <a:ln/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86EAFB10-3E0E-4CCE-8500-54A26E7AC3C1}"/>
                </a:ext>
              </a:extLst>
            </p:cNvPr>
            <p:cNvSpPr/>
            <p:nvPr/>
          </p:nvSpPr>
          <p:spPr>
            <a:xfrm>
              <a:off x="7090350" y="4910018"/>
              <a:ext cx="449699" cy="449699"/>
            </a:xfrm>
            <a:prstGeom prst="roundRect">
              <a:avLst>
                <a:gd name="adj" fmla="val 1866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FD6ED06-830E-4524-926B-8F79ADCEC511}"/>
                </a:ext>
              </a:extLst>
            </p:cNvPr>
            <p:cNvSpPr/>
            <p:nvPr/>
          </p:nvSpPr>
          <p:spPr>
            <a:xfrm>
              <a:off x="7165241" y="5003809"/>
              <a:ext cx="299799" cy="3746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23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4</a:t>
              </a:r>
              <a:endParaRPr lang="en-US" sz="23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A9AA362B-9E57-4146-9339-CFFCC2941A38}"/>
                </a:ext>
              </a:extLst>
            </p:cNvPr>
            <p:cNvSpPr/>
            <p:nvPr/>
          </p:nvSpPr>
          <p:spPr>
            <a:xfrm>
              <a:off x="8314611" y="4885015"/>
              <a:ext cx="4250769" cy="31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Mehendale, S., &amp; Walishetti, A. (2024).</a:t>
              </a:r>
              <a:endParaRPr lang="en-US" sz="19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BA964684-2C11-42BC-9981-0A6F1A0A3256}"/>
                </a:ext>
              </a:extLst>
            </p:cNvPr>
            <p:cNvSpPr/>
            <p:nvPr/>
          </p:nvSpPr>
          <p:spPr>
            <a:xfrm>
              <a:off x="8314611" y="5317212"/>
              <a:ext cx="5538549" cy="6396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DexAssist: A Voice-Enabled Dual-LLM Framework for Accessible Web Navigation. arXiv preprint arXiv:2411.12214.</a:t>
              </a:r>
              <a:endParaRPr lang="en-US" sz="15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F0931D7C-44F7-4B6E-9166-F9CD8CCEA88E}"/>
                </a:ext>
              </a:extLst>
            </p:cNvPr>
            <p:cNvSpPr/>
            <p:nvPr/>
          </p:nvSpPr>
          <p:spPr>
            <a:xfrm>
              <a:off x="6513612" y="6275070"/>
              <a:ext cx="599599" cy="22860"/>
            </a:xfrm>
            <a:prstGeom prst="roundRect">
              <a:avLst>
                <a:gd name="adj" fmla="val 367249"/>
              </a:avLst>
            </a:prstGeom>
            <a:solidFill>
              <a:srgbClr val="313E80"/>
            </a:solidFill>
            <a:ln/>
          </p:spPr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9CBC12F9-6113-4670-8DAA-182CB308F87C}"/>
                </a:ext>
              </a:extLst>
            </p:cNvPr>
            <p:cNvSpPr/>
            <p:nvPr/>
          </p:nvSpPr>
          <p:spPr>
            <a:xfrm>
              <a:off x="7090350" y="6061710"/>
              <a:ext cx="449699" cy="449699"/>
            </a:xfrm>
            <a:prstGeom prst="roundRect">
              <a:avLst>
                <a:gd name="adj" fmla="val 18669"/>
              </a:avLst>
            </a:prstGeom>
            <a:solidFill>
              <a:srgbClr val="182567"/>
            </a:solidFill>
            <a:ln w="7620">
              <a:solidFill>
                <a:srgbClr val="313E80"/>
              </a:solidFill>
              <a:prstDash val="solid"/>
            </a:ln>
          </p:spPr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FDFE4C71-DBDD-4114-8302-C556D739A394}"/>
                </a:ext>
              </a:extLst>
            </p:cNvPr>
            <p:cNvSpPr/>
            <p:nvPr/>
          </p:nvSpPr>
          <p:spPr>
            <a:xfrm>
              <a:off x="7165241" y="6164718"/>
              <a:ext cx="299799" cy="3746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350"/>
                </a:lnSpc>
                <a:buNone/>
              </a:pPr>
              <a:r>
                <a:rPr lang="en-US" sz="2350" dirty="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5</a:t>
              </a:r>
              <a:endParaRPr lang="en-US" sz="2350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96963144-FE06-4C66-8C03-368B8CBE0F7B}"/>
                </a:ext>
              </a:extLst>
            </p:cNvPr>
            <p:cNvSpPr/>
            <p:nvPr/>
          </p:nvSpPr>
          <p:spPr>
            <a:xfrm>
              <a:off x="777240" y="6036707"/>
              <a:ext cx="5538549" cy="6246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450"/>
                </a:lnSpc>
                <a:buNone/>
              </a:pPr>
              <a:r>
                <a:rPr lang="en-US" sz="1950">
                  <a:solidFill>
                    <a:schemeClr val="bg1"/>
                  </a:solidFill>
                  <a:latin typeface="Bahnschrift SemiBold" panose="020B0502040204020203" pitchFamily="34" charset="0"/>
                  <a:ea typeface="Roboto Medium" pitchFamily="34" charset="-122"/>
                  <a:cs typeface="Roboto Medium" pitchFamily="34" charset="-120"/>
                </a:rPr>
                <a:t>Kodandaram, S. R., Uckun, U., Bi, X., Ramakrishnan, I. V., &amp; Ashok, V. (2024).</a:t>
              </a:r>
              <a:endParaRPr lang="en-US" sz="19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2F7B67D3-6C91-402E-B62C-90542F8C3C90}"/>
                </a:ext>
              </a:extLst>
            </p:cNvPr>
            <p:cNvSpPr/>
            <p:nvPr/>
          </p:nvSpPr>
          <p:spPr>
            <a:xfrm>
              <a:off x="777240" y="6781205"/>
              <a:ext cx="5538549" cy="6396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500"/>
                </a:lnSpc>
                <a:buNone/>
              </a:pPr>
              <a:r>
                <a:rPr lang="en-US" sz="1550">
                  <a:solidFill>
                    <a:schemeClr val="bg1"/>
                  </a:solidFill>
                  <a:latin typeface="Bahnschrift SemiBold" panose="020B0502040204020203" pitchFamily="34" charset="0"/>
                  <a:ea typeface="Roboto" pitchFamily="34" charset="-122"/>
                  <a:cs typeface="Roboto" pitchFamily="34" charset="-120"/>
                </a:rPr>
                <a:t>Enabling Uniform Computer Interaction Experience for Blind Users through Large Language Models.</a:t>
              </a:r>
              <a:endParaRPr lang="en-US" sz="155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31" name="Text 0">
            <a:extLst>
              <a:ext uri="{FF2B5EF4-FFF2-40B4-BE49-F238E27FC236}">
                <a16:creationId xmlns:a16="http://schemas.microsoft.com/office/drawing/2014/main" id="{5D1D30D3-E4C5-407B-8ADC-082BD0668A6B}"/>
              </a:ext>
            </a:extLst>
          </p:cNvPr>
          <p:cNvSpPr/>
          <p:nvPr/>
        </p:nvSpPr>
        <p:spPr>
          <a:xfrm>
            <a:off x="590590" y="574318"/>
            <a:ext cx="6953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  <a:ea typeface="Roboto Medium" pitchFamily="34" charset="-122"/>
                <a:cs typeface="Roboto Medium" pitchFamily="34" charset="-120"/>
              </a:rPr>
              <a:t>References</a:t>
            </a:r>
            <a:endParaRPr lang="en-US" sz="48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64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21F1ACA7D6049997F4CC38C4C23F2" ma:contentTypeVersion="5" ma:contentTypeDescription="Create a new document." ma:contentTypeScope="" ma:versionID="7d7d25e8cd88f965c0f76d0615ebf4db">
  <xsd:schema xmlns:xsd="http://www.w3.org/2001/XMLSchema" xmlns:xs="http://www.w3.org/2001/XMLSchema" xmlns:p="http://schemas.microsoft.com/office/2006/metadata/properties" xmlns:ns3="0b9718f5-fcfb-42a7-9a05-d795d8ffa690" targetNamespace="http://schemas.microsoft.com/office/2006/metadata/properties" ma:root="true" ma:fieldsID="071d78790fe4036e3d1b21be2ecf4ffe" ns3:_="">
    <xsd:import namespace="0b9718f5-fcfb-42a7-9a05-d795d8ffa6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9718f5-fcfb-42a7-9a05-d795d8ffa6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9718f5-fcfb-42a7-9a05-d795d8ffa690" xsi:nil="true"/>
  </documentManagement>
</p:properties>
</file>

<file path=customXml/itemProps1.xml><?xml version="1.0" encoding="utf-8"?>
<ds:datastoreItem xmlns:ds="http://schemas.openxmlformats.org/officeDocument/2006/customXml" ds:itemID="{E4ED59F6-625F-4B9A-84AA-65B710CDD1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A36185-7D68-4AB7-BFA3-EC3A927D0F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9718f5-fcfb-42a7-9a05-d795d8ffa6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236EB8-F3F8-40D7-B352-2B369ED08F5B}">
  <ds:schemaRefs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0b9718f5-fcfb-42a7-9a05-d795d8ffa69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596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 Jayadev</dc:creator>
  <cp:lastModifiedBy>Vinay Jayadev</cp:lastModifiedBy>
  <cp:revision>4</cp:revision>
  <dcterms:created xsi:type="dcterms:W3CDTF">2025-04-11T18:14:59Z</dcterms:created>
  <dcterms:modified xsi:type="dcterms:W3CDTF">2025-04-11T19:44:22Z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0x0101002BF21F1ACA7D6049997F4CC38C4C23F2</vt:lpwstr>
  </property>
</Properties>
</file>