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aramond Italics" panose="020B0604020202020204" charset="0"/>
      <p:regular r:id="rId15"/>
    </p:embeddedFont>
    <p:embeddedFont>
      <p:font typeface="Telegraf 1 Bold" panose="020B0604020202020204" charset="0"/>
      <p:regular r:id="rId16"/>
    </p:embeddedFont>
    <p:embeddedFont>
      <p:font typeface="Telegraf 2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06093"/>
            <a:ext cx="9056196" cy="448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7865" b="1" spc="-393">
                <a:solidFill>
                  <a:srgbClr val="201E21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ANALYZING SALES PATTERN OF A SUPERSTORE</a:t>
            </a:r>
          </a:p>
          <a:p>
            <a:pPr algn="l">
              <a:lnSpc>
                <a:spcPts val="8651"/>
              </a:lnSpc>
            </a:pPr>
            <a:endParaRPr lang="en-US" sz="7865" b="1" spc="-393">
              <a:solidFill>
                <a:srgbClr val="201E21"/>
              </a:solidFill>
              <a:latin typeface="Telegraf 1 Bold"/>
              <a:ea typeface="Telegraf 1 Bold"/>
              <a:cs typeface="Telegraf 1 Bold"/>
              <a:sym typeface="Telegraf 1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973023"/>
            <a:ext cx="7597509" cy="6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6"/>
              </a:lnSpc>
              <a:spcBef>
                <a:spcPct val="0"/>
              </a:spcBef>
            </a:pPr>
            <a:r>
              <a:rPr lang="en-US" sz="3897" i="1">
                <a:solidFill>
                  <a:srgbClr val="201E21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Engineering Probability &amp; Statistics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440288" y="1878474"/>
            <a:ext cx="4166125" cy="6479452"/>
            <a:chOff x="0" y="0"/>
            <a:chExt cx="1097251" cy="17065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51" cy="1706522"/>
            </a:xfrm>
            <a:custGeom>
              <a:avLst/>
              <a:gdLst/>
              <a:ahLst/>
              <a:cxnLst/>
              <a:rect l="l" t="t" r="r" b="b"/>
              <a:pathLst>
                <a:path w="1097251" h="1706522">
                  <a:moveTo>
                    <a:pt x="0" y="0"/>
                  </a:moveTo>
                  <a:lnTo>
                    <a:pt x="1097251" y="0"/>
                  </a:lnTo>
                  <a:lnTo>
                    <a:pt x="1097251" y="1706522"/>
                  </a:lnTo>
                  <a:lnTo>
                    <a:pt x="0" y="1706522"/>
                  </a:lnTo>
                  <a:close/>
                </a:path>
              </a:pathLst>
            </a:custGeom>
            <a:solidFill>
              <a:srgbClr val="E6603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7251" cy="1744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786241" y="3726940"/>
            <a:ext cx="3474219" cy="274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081">
                <a:solidFill>
                  <a:srgbClr val="FAF9F4"/>
                </a:solidFill>
                <a:latin typeface="Canva Sans"/>
                <a:ea typeface="Canva Sans"/>
                <a:cs typeface="Canva Sans"/>
                <a:sym typeface="Canva Sans"/>
              </a:rPr>
              <a:t> Advait Jigarbhai Naik Ajinkya Vitthalrao Jadhav </a:t>
            </a:r>
          </a:p>
          <a:p>
            <a:pPr algn="ctr">
              <a:lnSpc>
                <a:spcPts val="2913"/>
              </a:lnSpc>
            </a:pPr>
            <a:r>
              <a:rPr lang="en-US" sz="2081">
                <a:solidFill>
                  <a:srgbClr val="FAF9F4"/>
                </a:solidFill>
                <a:latin typeface="Canva Sans"/>
                <a:ea typeface="Canva Sans"/>
                <a:cs typeface="Canva Sans"/>
                <a:sym typeface="Canva Sans"/>
              </a:rPr>
              <a:t>Bhumika Channakeshava Rushil Vijayan</a:t>
            </a:r>
          </a:p>
          <a:p>
            <a:pPr algn="ctr">
              <a:lnSpc>
                <a:spcPts val="2913"/>
              </a:lnSpc>
            </a:pPr>
            <a:r>
              <a:rPr lang="en-US" sz="2081">
                <a:solidFill>
                  <a:srgbClr val="FAF9F4"/>
                </a:solidFill>
                <a:latin typeface="Canva Sans"/>
                <a:ea typeface="Canva Sans"/>
                <a:cs typeface="Canva Sans"/>
                <a:sym typeface="Canva Sans"/>
              </a:rPr>
              <a:t> Saloni Vivek Tanpure Shivendra Chandrashekhar Jagtap</a:t>
            </a:r>
          </a:p>
          <a:p>
            <a:pPr algn="ctr">
              <a:lnSpc>
                <a:spcPts val="1773"/>
              </a:lnSpc>
              <a:spcBef>
                <a:spcPct val="0"/>
              </a:spcBef>
            </a:pPr>
            <a:endParaRPr lang="en-US" sz="2081">
              <a:solidFill>
                <a:srgbClr val="FAF9F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659739" y="2586486"/>
            <a:ext cx="196467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AF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02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04270" y="1961383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201E21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788453" y="2191841"/>
            <a:ext cx="771999" cy="771999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901847" y="2171885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i="1">
                <a:solidFill>
                  <a:srgbClr val="FAF9F4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4270" y="3243451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201E21"/>
                </a:solidFill>
                <a:latin typeface="Canva Sans"/>
                <a:ea typeface="Canva Sans"/>
                <a:cs typeface="Canva Sans"/>
                <a:sym typeface="Canva Sans"/>
              </a:rPr>
              <a:t>Project Goals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788453" y="3471682"/>
            <a:ext cx="771999" cy="771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901847" y="3451726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i="1" u="none">
                <a:solidFill>
                  <a:srgbClr val="FAF9F4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04270" y="5807588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201E21"/>
                </a:solidFill>
                <a:latin typeface="Canva Sans"/>
                <a:ea typeface="Canva Sans"/>
                <a:cs typeface="Canva Sans"/>
                <a:sym typeface="Canva Sans"/>
              </a:rPr>
              <a:t>Statistical Analysis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788453" y="6031363"/>
            <a:ext cx="771999" cy="77199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901847" y="6011407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i="1" u="none">
                <a:solidFill>
                  <a:srgbClr val="FAF9F4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04270" y="4525519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201E21"/>
                </a:solidFill>
                <a:latin typeface="Canva Sans"/>
                <a:ea typeface="Canva Sans"/>
                <a:cs typeface="Canva Sans"/>
                <a:sym typeface="Canva Sans"/>
              </a:rPr>
              <a:t>Data Visualization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788453" y="4751522"/>
            <a:ext cx="771999" cy="77199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901847" y="4731566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i="1" u="none">
                <a:solidFill>
                  <a:srgbClr val="FAF9F4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04270" y="7089656"/>
            <a:ext cx="7322748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201E21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88453" y="7311203"/>
            <a:ext cx="771999" cy="771999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901847" y="7291247"/>
            <a:ext cx="545211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i="1" u="none">
                <a:solidFill>
                  <a:srgbClr val="FAF9F4"/>
                </a:solidFill>
                <a:latin typeface="Garamond Italics"/>
                <a:ea typeface="Garamond Italics"/>
                <a:cs typeface="Garamond Italics"/>
                <a:sym typeface="Garamond Italics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753" y="2080503"/>
            <a:ext cx="4257587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"/>
              </a:lnSpc>
              <a:spcBef>
                <a:spcPct val="0"/>
              </a:spcBef>
            </a:pPr>
            <a:r>
              <a:rPr lang="en-US" sz="8000" b="1" spc="-400">
                <a:solidFill>
                  <a:srgbClr val="201E21"/>
                </a:solidFill>
                <a:latin typeface="Telegraf 2 Bold"/>
                <a:ea typeface="Telegraf 2 Bold"/>
                <a:cs typeface="Telegraf 2 Bold"/>
                <a:sym typeface="Telegraf 2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18151" y="0"/>
            <a:ext cx="8669849" cy="10287000"/>
            <a:chOff x="0" y="0"/>
            <a:chExt cx="1155979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7981" r="27981"/>
            <a:stretch>
              <a:fillRect/>
            </a:stretch>
          </p:blipFill>
          <p:spPr>
            <a:xfrm>
              <a:off x="0" y="0"/>
              <a:ext cx="11559798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58630" y="1666867"/>
            <a:ext cx="8685370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292929"/>
                </a:solidFill>
                <a:latin typeface="Canva Sans"/>
                <a:ea typeface="Canva Sans"/>
                <a:cs typeface="Canva Sans"/>
                <a:sym typeface="Canva Sans"/>
              </a:rPr>
              <a:t>Using superstore sales data, we analyze seasonal trends, demand patterns, and profitability to help businesses optimize resources and improve efficiency</a:t>
            </a:r>
          </a:p>
          <a:p>
            <a:pPr marL="0" lvl="0" indent="0" algn="l">
              <a:lnSpc>
                <a:spcPts val="3750"/>
              </a:lnSpc>
              <a:spcBef>
                <a:spcPct val="0"/>
              </a:spcBef>
            </a:pPr>
            <a:endParaRPr lang="en-US" sz="2500">
              <a:solidFill>
                <a:srgbClr val="292929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2477" y="296219"/>
            <a:ext cx="8891523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29292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8630" y="3705216"/>
            <a:ext cx="650100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29292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Project Goals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477" y="5172066"/>
            <a:ext cx="9042987" cy="426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Canva Sans"/>
                <a:ea typeface="Canva Sans"/>
                <a:cs typeface="Canva Sans"/>
                <a:sym typeface="Canva Sans"/>
              </a:rPr>
              <a:t>Identify seasonal sales trends and demand patterns using superstore data.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Canva Sans"/>
                <a:ea typeface="Canva Sans"/>
                <a:cs typeface="Canva Sans"/>
                <a:sym typeface="Canva Sans"/>
              </a:rPr>
              <a:t>Analyze product profitability to guide strategic decisions.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Canva Sans"/>
                <a:ea typeface="Canva Sans"/>
                <a:cs typeface="Canva Sans"/>
                <a:sym typeface="Canva Sans"/>
              </a:rPr>
              <a:t>Compare regional sales performance to improve resource allocation.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292929"/>
                </a:solidFill>
                <a:latin typeface="Canva Sans"/>
                <a:ea typeface="Canva Sans"/>
                <a:cs typeface="Canva Sans"/>
                <a:sym typeface="Canva Sans"/>
              </a:rPr>
              <a:t>Optimize regional distribution for enhanced customer satisfaction.</a:t>
            </a:r>
          </a:p>
          <a:p>
            <a:pPr algn="l">
              <a:lnSpc>
                <a:spcPts val="3750"/>
              </a:lnSpc>
            </a:pPr>
            <a:endParaRPr lang="en-US" sz="2500">
              <a:solidFill>
                <a:srgbClr val="292929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552229"/>
            <a:ext cx="9473348" cy="3591271"/>
          </a:xfrm>
          <a:custGeom>
            <a:avLst/>
            <a:gdLst/>
            <a:ahLst/>
            <a:cxnLst/>
            <a:rect l="l" t="t" r="r" b="b"/>
            <a:pathLst>
              <a:path w="9473348" h="3591271">
                <a:moveTo>
                  <a:pt x="0" y="0"/>
                </a:moveTo>
                <a:lnTo>
                  <a:pt x="9473348" y="0"/>
                </a:lnTo>
                <a:lnTo>
                  <a:pt x="9473348" y="3591271"/>
                </a:lnTo>
                <a:lnTo>
                  <a:pt x="0" y="3591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10489" y="5712720"/>
            <a:ext cx="9448811" cy="3545580"/>
          </a:xfrm>
          <a:custGeom>
            <a:avLst/>
            <a:gdLst/>
            <a:ahLst/>
            <a:cxnLst/>
            <a:rect l="l" t="t" r="r" b="b"/>
            <a:pathLst>
              <a:path w="9448811" h="3545580">
                <a:moveTo>
                  <a:pt x="0" y="0"/>
                </a:moveTo>
                <a:lnTo>
                  <a:pt x="9448811" y="0"/>
                </a:lnTo>
                <a:lnTo>
                  <a:pt x="9448811" y="3545580"/>
                </a:lnTo>
                <a:lnTo>
                  <a:pt x="0" y="3545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384032" y="2489726"/>
            <a:ext cx="6179325" cy="1621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Sharp sales rise in Sept 2020 likely due to COVID-driven demand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0" y="48388"/>
            <a:ext cx="11506200" cy="1192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 VISUALIZATION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622" y="6647341"/>
            <a:ext cx="5676493" cy="158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808" lvl="1" indent="-293904" algn="l">
              <a:lnSpc>
                <a:spcPts val="4274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 leads profit</a:t>
            </a:r>
          </a:p>
          <a:p>
            <a:pPr algn="l">
              <a:lnSpc>
                <a:spcPts val="4274"/>
              </a:lnSpc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587808" lvl="1" indent="-293904" algn="just">
              <a:lnSpc>
                <a:spcPts val="4274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follow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408101"/>
            <a:ext cx="9189594" cy="3143045"/>
          </a:xfrm>
          <a:custGeom>
            <a:avLst/>
            <a:gdLst/>
            <a:ahLst/>
            <a:cxnLst/>
            <a:rect l="l" t="t" r="r" b="b"/>
            <a:pathLst>
              <a:path w="9189594" h="3143045">
                <a:moveTo>
                  <a:pt x="0" y="0"/>
                </a:moveTo>
                <a:lnTo>
                  <a:pt x="9189594" y="0"/>
                </a:lnTo>
                <a:lnTo>
                  <a:pt x="9189594" y="3143045"/>
                </a:lnTo>
                <a:lnTo>
                  <a:pt x="0" y="3143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0" r="-528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62409" y="5143500"/>
            <a:ext cx="8286724" cy="4759164"/>
          </a:xfrm>
          <a:custGeom>
            <a:avLst/>
            <a:gdLst/>
            <a:ahLst/>
            <a:cxnLst/>
            <a:rect l="l" t="t" r="r" b="b"/>
            <a:pathLst>
              <a:path w="8286724" h="4759164">
                <a:moveTo>
                  <a:pt x="0" y="0"/>
                </a:moveTo>
                <a:lnTo>
                  <a:pt x="8286724" y="0"/>
                </a:lnTo>
                <a:lnTo>
                  <a:pt x="8286724" y="4759164"/>
                </a:lnTo>
                <a:lnTo>
                  <a:pt x="0" y="4759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52800" y="0"/>
            <a:ext cx="11094467" cy="1192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 VISUALIZATION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79975" y="2397710"/>
            <a:ext cx="6179325" cy="106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9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have the longest lead time, especially in Central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94541" y="6334454"/>
            <a:ext cx="6150644" cy="158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808" lvl="1" indent="-293904" algn="l">
              <a:lnSpc>
                <a:spcPts val="4274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West dominates sales</a:t>
            </a:r>
          </a:p>
          <a:p>
            <a:pPr algn="l">
              <a:lnSpc>
                <a:spcPts val="4274"/>
              </a:lnSpc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587808" lvl="1" indent="-293904" algn="just">
              <a:lnSpc>
                <a:spcPts val="4274"/>
              </a:lnSpc>
              <a:buFont typeface="Arial"/>
              <a:buChar char="•"/>
            </a:pPr>
            <a:r>
              <a:rPr lang="en-US" sz="27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 and South underperform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43008" y="2095112"/>
            <a:ext cx="5931103" cy="3048388"/>
          </a:xfrm>
          <a:custGeom>
            <a:avLst/>
            <a:gdLst/>
            <a:ahLst/>
            <a:cxnLst/>
            <a:rect l="l" t="t" r="r" b="b"/>
            <a:pathLst>
              <a:path w="5931103" h="3048388">
                <a:moveTo>
                  <a:pt x="0" y="0"/>
                </a:moveTo>
                <a:lnTo>
                  <a:pt x="5931103" y="0"/>
                </a:lnTo>
                <a:lnTo>
                  <a:pt x="5931103" y="3048388"/>
                </a:lnTo>
                <a:lnTo>
                  <a:pt x="0" y="3048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73487" y="5143500"/>
            <a:ext cx="4440522" cy="1778925"/>
          </a:xfrm>
          <a:custGeom>
            <a:avLst/>
            <a:gdLst/>
            <a:ahLst/>
            <a:cxnLst/>
            <a:rect l="l" t="t" r="r" b="b"/>
            <a:pathLst>
              <a:path w="4440522" h="1778925">
                <a:moveTo>
                  <a:pt x="0" y="0"/>
                </a:moveTo>
                <a:lnTo>
                  <a:pt x="4440522" y="0"/>
                </a:lnTo>
                <a:lnTo>
                  <a:pt x="4440522" y="1778925"/>
                </a:lnTo>
                <a:lnTo>
                  <a:pt x="0" y="177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72716" y="7402072"/>
            <a:ext cx="5086584" cy="1425062"/>
          </a:xfrm>
          <a:custGeom>
            <a:avLst/>
            <a:gdLst/>
            <a:ahLst/>
            <a:cxnLst/>
            <a:rect l="l" t="t" r="r" b="b"/>
            <a:pathLst>
              <a:path w="5086584" h="1425062">
                <a:moveTo>
                  <a:pt x="0" y="0"/>
                </a:moveTo>
                <a:lnTo>
                  <a:pt x="5086584" y="0"/>
                </a:lnTo>
                <a:lnTo>
                  <a:pt x="5086584" y="1425062"/>
                </a:lnTo>
                <a:lnTo>
                  <a:pt x="0" y="142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79440" y="112078"/>
            <a:ext cx="11529120" cy="129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STATISTICAL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6539" y="1836795"/>
            <a:ext cx="8199066" cy="111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sz="28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 Sample T-Test (Year Wise Sales Trend)</a:t>
            </a:r>
          </a:p>
          <a:p>
            <a:pPr algn="ctr">
              <a:lnSpc>
                <a:spcPts val="4546"/>
              </a:lnSpc>
              <a:spcBef>
                <a:spcPct val="0"/>
              </a:spcBef>
            </a:pPr>
            <a:endParaRPr lang="en-US" sz="289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88082" y="1826576"/>
            <a:ext cx="618457" cy="618457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78923" y="1812642"/>
            <a:ext cx="436775" cy="54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7"/>
              </a:lnSpc>
            </a:pPr>
            <a:r>
              <a:rPr lang="en-US" sz="2883" b="1">
                <a:solidFill>
                  <a:srgbClr val="FAF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5332" y="2929797"/>
            <a:ext cx="11118155" cy="611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Compared 2019 and 2020 sales to test if 2020 had higher sales.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hypothesis: No difference in mean sales; </a:t>
            </a:r>
          </a:p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alternative hypothesis: 2020 sales are higher.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P-value: 0.000, rejecting the null hypothesis.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95% confidence interval for the mean difference: (61.8, 124.2).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Concluded that 2020 sales were significantly higher, likely due to COVID-19-driven demand.</a:t>
            </a: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7310" y="1745160"/>
            <a:ext cx="8199066" cy="111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sz="28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ANOVA Analysis (Category wise Profit) </a:t>
            </a:r>
          </a:p>
          <a:p>
            <a:pPr algn="ctr">
              <a:lnSpc>
                <a:spcPts val="4546"/>
              </a:lnSpc>
              <a:spcBef>
                <a:spcPct val="0"/>
              </a:spcBef>
            </a:pPr>
            <a:endParaRPr lang="en-US" sz="289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88082" y="1826576"/>
            <a:ext cx="618457" cy="61845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9892891" y="4309969"/>
            <a:ext cx="8224566" cy="5295595"/>
          </a:xfrm>
          <a:custGeom>
            <a:avLst/>
            <a:gdLst/>
            <a:ahLst/>
            <a:cxnLst/>
            <a:rect l="l" t="t" r="r" b="b"/>
            <a:pathLst>
              <a:path w="8224566" h="5295595">
                <a:moveTo>
                  <a:pt x="0" y="0"/>
                </a:moveTo>
                <a:lnTo>
                  <a:pt x="8224566" y="0"/>
                </a:lnTo>
                <a:lnTo>
                  <a:pt x="8224566" y="5295595"/>
                </a:lnTo>
                <a:lnTo>
                  <a:pt x="0" y="529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52" r="-3000" b="-820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5698" y="8502520"/>
            <a:ext cx="4041443" cy="1511561"/>
          </a:xfrm>
          <a:custGeom>
            <a:avLst/>
            <a:gdLst/>
            <a:ahLst/>
            <a:cxnLst/>
            <a:rect l="l" t="t" r="r" b="b"/>
            <a:pathLst>
              <a:path w="4041443" h="1511561">
                <a:moveTo>
                  <a:pt x="0" y="0"/>
                </a:moveTo>
                <a:lnTo>
                  <a:pt x="4041442" y="0"/>
                </a:lnTo>
                <a:lnTo>
                  <a:pt x="4041442" y="1511560"/>
                </a:lnTo>
                <a:lnTo>
                  <a:pt x="0" y="1511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99" b="-279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834371"/>
            <a:ext cx="8367676" cy="58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ANOVA to compare profit across product categories (Technology, Furniture, Office Supplies).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hypothesis: All category means are equal; alternative hypothesis: Means are not equal.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P-value: 0.000, rejecting the null hypothesis.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 has significantly higher profit than Furniture and Office Supplies.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Suggests the need for targeted strategies for low-performing categories.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253306" y="1937152"/>
            <a:ext cx="4116526" cy="1839417"/>
          </a:xfrm>
          <a:custGeom>
            <a:avLst/>
            <a:gdLst/>
            <a:ahLst/>
            <a:cxnLst/>
            <a:rect l="l" t="t" r="r" b="b"/>
            <a:pathLst>
              <a:path w="4116526" h="1839417">
                <a:moveTo>
                  <a:pt x="0" y="0"/>
                </a:moveTo>
                <a:lnTo>
                  <a:pt x="4116527" y="0"/>
                </a:lnTo>
                <a:lnTo>
                  <a:pt x="4116527" y="1839417"/>
                </a:lnTo>
                <a:lnTo>
                  <a:pt x="0" y="1839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79440" y="112078"/>
            <a:ext cx="11529120" cy="129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STATISTICAL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8923" y="1812642"/>
            <a:ext cx="436775" cy="54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7"/>
              </a:lnSpc>
            </a:pPr>
            <a:r>
              <a:rPr lang="en-US" sz="2883" b="1">
                <a:solidFill>
                  <a:srgbClr val="FAF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258" y="1528171"/>
            <a:ext cx="618457" cy="61845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789936" y="1826576"/>
            <a:ext cx="7338640" cy="4871996"/>
          </a:xfrm>
          <a:custGeom>
            <a:avLst/>
            <a:gdLst/>
            <a:ahLst/>
            <a:cxnLst/>
            <a:rect l="l" t="t" r="r" b="b"/>
            <a:pathLst>
              <a:path w="7338640" h="4871996">
                <a:moveTo>
                  <a:pt x="0" y="0"/>
                </a:moveTo>
                <a:lnTo>
                  <a:pt x="7338640" y="0"/>
                </a:lnTo>
                <a:lnTo>
                  <a:pt x="7338640" y="4871995"/>
                </a:lnTo>
                <a:lnTo>
                  <a:pt x="0" y="4871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7" r="-3803" b="-730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91743" y="7333266"/>
            <a:ext cx="1616163" cy="2398572"/>
          </a:xfrm>
          <a:custGeom>
            <a:avLst/>
            <a:gdLst/>
            <a:ahLst/>
            <a:cxnLst/>
            <a:rect l="l" t="t" r="r" b="b"/>
            <a:pathLst>
              <a:path w="1616163" h="2398572">
                <a:moveTo>
                  <a:pt x="0" y="0"/>
                </a:moveTo>
                <a:lnTo>
                  <a:pt x="1616163" y="0"/>
                </a:lnTo>
                <a:lnTo>
                  <a:pt x="1616163" y="2398571"/>
                </a:lnTo>
                <a:lnTo>
                  <a:pt x="0" y="2398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0247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91258" y="7356154"/>
            <a:ext cx="2267727" cy="2352795"/>
          </a:xfrm>
          <a:custGeom>
            <a:avLst/>
            <a:gdLst/>
            <a:ahLst/>
            <a:cxnLst/>
            <a:rect l="l" t="t" r="r" b="b"/>
            <a:pathLst>
              <a:path w="2267727" h="2352795">
                <a:moveTo>
                  <a:pt x="0" y="0"/>
                </a:moveTo>
                <a:lnTo>
                  <a:pt x="2267726" y="0"/>
                </a:lnTo>
                <a:lnTo>
                  <a:pt x="2267726" y="2352795"/>
                </a:lnTo>
                <a:lnTo>
                  <a:pt x="0" y="2352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44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5698" y="7768975"/>
            <a:ext cx="4635537" cy="1890811"/>
          </a:xfrm>
          <a:custGeom>
            <a:avLst/>
            <a:gdLst/>
            <a:ahLst/>
            <a:cxnLst/>
            <a:rect l="l" t="t" r="r" b="b"/>
            <a:pathLst>
              <a:path w="4635537" h="1890811">
                <a:moveTo>
                  <a:pt x="0" y="0"/>
                </a:moveTo>
                <a:lnTo>
                  <a:pt x="4635536" y="0"/>
                </a:lnTo>
                <a:lnTo>
                  <a:pt x="4635536" y="1890811"/>
                </a:lnTo>
                <a:lnTo>
                  <a:pt x="0" y="1890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79440" y="112078"/>
            <a:ext cx="11529120" cy="129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STATISTICAL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539" y="1538390"/>
            <a:ext cx="8199066" cy="111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sz="28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ANOVA Analysis (Leadtime Across Regions) </a:t>
            </a:r>
          </a:p>
          <a:p>
            <a:pPr algn="ctr">
              <a:lnSpc>
                <a:spcPts val="4546"/>
              </a:lnSpc>
              <a:spcBef>
                <a:spcPct val="0"/>
              </a:spcBef>
            </a:pPr>
            <a:endParaRPr lang="en-US" sz="289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82099" y="1514237"/>
            <a:ext cx="436775" cy="54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7"/>
              </a:lnSpc>
            </a:pPr>
            <a:r>
              <a:rPr lang="en-US" sz="2883" b="1">
                <a:solidFill>
                  <a:srgbClr val="FAF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258" y="2573891"/>
            <a:ext cx="9429627" cy="519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082" lvl="1" indent="-264041" algn="l">
              <a:lnSpc>
                <a:spcPts val="3840"/>
              </a:lnSpc>
              <a:buFont typeface="Arial"/>
              <a:buChar char="•"/>
            </a:pPr>
            <a:r>
              <a:rPr lang="en-US" sz="2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Conducted ANOVA to compare lead times across four regions (Central, East, South, West).</a:t>
            </a:r>
          </a:p>
          <a:p>
            <a:pPr algn="l">
              <a:lnSpc>
                <a:spcPts val="3840"/>
              </a:lnSpc>
            </a:pPr>
            <a:endParaRPr lang="en-US" sz="24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28082" lvl="1" indent="-264041" algn="l">
              <a:lnSpc>
                <a:spcPts val="3840"/>
              </a:lnSpc>
              <a:buFont typeface="Arial"/>
              <a:buChar char="•"/>
            </a:pPr>
            <a:r>
              <a:rPr lang="en-US" sz="2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hypothesis: All region lead times are equal; alternative hypothesis: Lead times differ by region.</a:t>
            </a:r>
          </a:p>
          <a:p>
            <a:pPr algn="l">
              <a:lnSpc>
                <a:spcPts val="3840"/>
              </a:lnSpc>
            </a:pPr>
            <a:endParaRPr lang="en-US" sz="24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28082" lvl="1" indent="-264041" algn="l">
              <a:lnSpc>
                <a:spcPts val="3840"/>
              </a:lnSpc>
              <a:buFont typeface="Arial"/>
              <a:buChar char="•"/>
            </a:pPr>
            <a:r>
              <a:rPr lang="en-US" sz="2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P-value: 0.328, failing to reject the null hypothesis.</a:t>
            </a:r>
          </a:p>
          <a:p>
            <a:pPr algn="l">
              <a:lnSpc>
                <a:spcPts val="3424"/>
              </a:lnSpc>
            </a:pPr>
            <a:endParaRPr lang="en-US" sz="24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28082" lvl="1" indent="-264041" algn="l">
              <a:lnSpc>
                <a:spcPts val="3840"/>
              </a:lnSpc>
              <a:buFont typeface="Arial"/>
              <a:buChar char="•"/>
            </a:pPr>
            <a:r>
              <a:rPr lang="en-US" sz="2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significant differences in lead times across regions, indicating consistent performance.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endParaRPr lang="en-US" sz="24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8082" y="1826576"/>
            <a:ext cx="618457" cy="61845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7452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9812869" y="1826576"/>
            <a:ext cx="8040652" cy="4902286"/>
          </a:xfrm>
          <a:custGeom>
            <a:avLst/>
            <a:gdLst/>
            <a:ahLst/>
            <a:cxnLst/>
            <a:rect l="l" t="t" r="r" b="b"/>
            <a:pathLst>
              <a:path w="8040652" h="4902286">
                <a:moveTo>
                  <a:pt x="0" y="0"/>
                </a:moveTo>
                <a:lnTo>
                  <a:pt x="8040652" y="0"/>
                </a:lnTo>
                <a:lnTo>
                  <a:pt x="8040652" y="4902285"/>
                </a:lnTo>
                <a:lnTo>
                  <a:pt x="0" y="4902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" t="-2163" r="-3199" b="-1309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9940" y="8454192"/>
            <a:ext cx="5994878" cy="1596136"/>
          </a:xfrm>
          <a:custGeom>
            <a:avLst/>
            <a:gdLst/>
            <a:ahLst/>
            <a:cxnLst/>
            <a:rect l="l" t="t" r="r" b="b"/>
            <a:pathLst>
              <a:path w="5994878" h="1596136">
                <a:moveTo>
                  <a:pt x="0" y="0"/>
                </a:moveTo>
                <a:lnTo>
                  <a:pt x="5994878" y="0"/>
                </a:lnTo>
                <a:lnTo>
                  <a:pt x="5994878" y="1596136"/>
                </a:lnTo>
                <a:lnTo>
                  <a:pt x="0" y="1596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" r="-8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96876" y="7147961"/>
            <a:ext cx="4366113" cy="2612461"/>
          </a:xfrm>
          <a:custGeom>
            <a:avLst/>
            <a:gdLst/>
            <a:ahLst/>
            <a:cxnLst/>
            <a:rect l="l" t="t" r="r" b="b"/>
            <a:pathLst>
              <a:path w="4366113" h="2612461">
                <a:moveTo>
                  <a:pt x="0" y="0"/>
                </a:moveTo>
                <a:lnTo>
                  <a:pt x="4366113" y="0"/>
                </a:lnTo>
                <a:lnTo>
                  <a:pt x="4366113" y="2612462"/>
                </a:lnTo>
                <a:lnTo>
                  <a:pt x="0" y="261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79440" y="112078"/>
            <a:ext cx="11529120" cy="129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STATISTICAL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923" y="1812642"/>
            <a:ext cx="436775" cy="540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7"/>
              </a:lnSpc>
            </a:pPr>
            <a:r>
              <a:rPr lang="en-US" sz="2883" b="1">
                <a:solidFill>
                  <a:srgbClr val="FAF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5698" y="1836795"/>
            <a:ext cx="8199066" cy="111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sz="28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ANOVA Analysis (Leadtime Per Category) </a:t>
            </a:r>
          </a:p>
          <a:p>
            <a:pPr algn="ctr">
              <a:lnSpc>
                <a:spcPts val="4546"/>
              </a:lnSpc>
              <a:spcBef>
                <a:spcPct val="0"/>
              </a:spcBef>
            </a:pPr>
            <a:endParaRPr lang="en-US" sz="289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7310" y="2648834"/>
            <a:ext cx="8367676" cy="58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Conducted ANOVA to compare lead times for Technology, Furniture, and Office Supplies.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Null hypothesis: All category lead times are equal; alternative hypothesis: Lead times differ by category.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P-value: 0.002, rejecting the null hypothesis.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have significantly longer lead times than Technology and Furniture.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0545" lvl="1" indent="-275272" algn="l">
              <a:lnSpc>
                <a:spcPts val="3111"/>
              </a:lnSpc>
              <a:buFont typeface="Arial"/>
              <a:buChar char="•"/>
            </a:pPr>
            <a:r>
              <a:rPr lang="en-US" sz="2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Suggests inefficiencies in the Office Supplies supply chain.</a:t>
            </a:r>
          </a:p>
          <a:p>
            <a:pPr algn="l">
              <a:lnSpc>
                <a:spcPts val="3111"/>
              </a:lnSpc>
            </a:pPr>
            <a:endParaRPr lang="en-US" sz="2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0200" y="112078"/>
            <a:ext cx="6926089" cy="1192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000000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9418"/>
            <a:ext cx="15859668" cy="662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529" lvl="1" indent="-277264" algn="l">
              <a:lnSpc>
                <a:spcPts val="4032"/>
              </a:lnSpc>
              <a:buFont typeface="Arial"/>
              <a:buChar char="•"/>
            </a:pPr>
            <a:r>
              <a:rPr lang="en-US" sz="25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2020 sales significantly higher than 2019, driven likely by back-to-school season and COVID-19 demand surge (Two-sample t-test).</a:t>
            </a:r>
          </a:p>
          <a:p>
            <a:pPr algn="l">
              <a:lnSpc>
                <a:spcPts val="4032"/>
              </a:lnSpc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buFont typeface="Arial"/>
              <a:buChar char="•"/>
            </a:pPr>
            <a:r>
              <a:rPr lang="en-US" sz="25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 is the most profitable category (Profit analysis using ANOVA)</a:t>
            </a:r>
          </a:p>
          <a:p>
            <a:pPr algn="l">
              <a:lnSpc>
                <a:spcPts val="4032"/>
              </a:lnSpc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buFont typeface="Arial"/>
              <a:buChar char="•"/>
            </a:pPr>
            <a:r>
              <a:rPr lang="en-US" sz="25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significant differences in lead times across regions, indicating consistent regional performance (ANOVA on lead times).</a:t>
            </a:r>
          </a:p>
          <a:p>
            <a:pPr algn="l">
              <a:lnSpc>
                <a:spcPts val="4032"/>
              </a:lnSpc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54529" lvl="1" indent="-277264" algn="l">
              <a:lnSpc>
                <a:spcPts val="4032"/>
              </a:lnSpc>
              <a:buFont typeface="Arial"/>
              <a:buChar char="•"/>
            </a:pPr>
            <a:r>
              <a:rPr lang="en-US" sz="256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Office Supplies have the longest lead times, indicating logistics inefficiencies (ANOVA on lead times).</a:t>
            </a:r>
          </a:p>
          <a:p>
            <a:pPr algn="l">
              <a:lnSpc>
                <a:spcPts val="4032"/>
              </a:lnSpc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32"/>
              </a:lnSpc>
              <a:spcBef>
                <a:spcPct val="0"/>
              </a:spcBef>
            </a:pPr>
            <a:endParaRPr lang="en-US" sz="256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6400" y="3387852"/>
            <a:ext cx="7315200" cy="1755648"/>
          </a:xfrm>
          <a:custGeom>
            <a:avLst/>
            <a:gdLst/>
            <a:ahLst/>
            <a:cxnLst/>
            <a:rect l="l" t="t" r="r" b="b"/>
            <a:pathLst>
              <a:path w="7315200" h="1755648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515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Telegraf 2 Bold</vt:lpstr>
      <vt:lpstr>Canva Sans Bold</vt:lpstr>
      <vt:lpstr>Canva Sans</vt:lpstr>
      <vt:lpstr>Telegraf 1 Bold</vt:lpstr>
      <vt:lpstr>Garamond Italics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cp:lastModifiedBy>Sarvesh Vijayan</cp:lastModifiedBy>
  <cp:revision>2</cp:revision>
  <dcterms:created xsi:type="dcterms:W3CDTF">2006-08-16T00:00:00Z</dcterms:created>
  <dcterms:modified xsi:type="dcterms:W3CDTF">2024-12-09T03:09:28Z</dcterms:modified>
  <dc:identifier>DAGYoZgRzzg</dc:identifier>
</cp:coreProperties>
</file>