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4" r:id="rId6"/>
    <p:sldId id="262" r:id="rId7"/>
    <p:sldId id="260" r:id="rId8"/>
    <p:sldId id="263" r:id="rId9"/>
    <p:sldId id="26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C44B"/>
    <a:srgbClr val="FCD847"/>
    <a:srgbClr val="6D6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35E0AF-C5C6-4242-86B3-9BE705F77F7E}" v="3063" dt="2025-08-17T21:17:38.874"/>
    <p1510:client id="{7493A99B-F17F-B8E8-F005-D8FD9EBE5A1D}" v="17" dt="2025-08-17T21:14:49.702"/>
    <p1510:client id="{9A26EA66-C623-0E86-0D27-D0E232979850}" v="62" dt="2025-08-16T23:58:15.737"/>
    <p1510:client id="{C7FB921B-8B55-A441-A8F5-56E396DD0984}" v="35" dt="2025-08-17T18:42:08.915"/>
    <p1510:client id="{ED8631A2-A46E-9450-0D1F-BB47B908A3E8}" v="108" dt="2025-08-16T23:48:51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r>
              <a:rPr lang="en-US" altLang="en-US"/>
              <a:t>IE 5617 F 2015 Graduate Project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81F9DB6-65F5-415D-9156-BDC5A40D695C}" type="datetime1">
              <a:rPr lang="en-US" altLang="en-US"/>
              <a:pPr/>
              <a:t>8/17/2025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3D2FE20-9366-452B-9F3D-4FF6CA17B2E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5" charset="-128"/>
        <a:cs typeface="ＭＳ Ｐゴシック" pitchFamily="-105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5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5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5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003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8066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ＭＳ Ｐゴシック"/>
                <a:cs typeface="Calibri"/>
              </a:rPr>
              <a:t>Hannah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37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393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26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556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Ciana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546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Saloni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4448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Hannah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2FE20-9366-452B-9F3D-4FF6CA17B2E2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30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6D6D6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Summer 2, 2023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559F07-A643-4425-BCC2-B3689F03C185}" type="slidenum">
              <a:rPr lang="en-US" altLang="en-US"/>
              <a:pPr/>
              <a:t>‹#›</a:t>
            </a:fld>
            <a:endParaRPr lang="en-US" altLang="en-US">
              <a:solidFill>
                <a:srgbClr val="88A4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47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EB4EDF-9320-4498-8AD9-48F09F5BB6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44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6D6D6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6409D-1B1D-40D2-A0D8-C3DD466F1B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364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761039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9EEE59-A5E6-4185-86FC-0C32BA87528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609600" y="6308727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Summer 2, </a:t>
            </a:r>
            <a:r>
              <a:rPr lang="en-US" baseline="0"/>
              <a:t>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7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FC49C9-BD84-443D-AE85-A9BC8A3E85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4653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7183C-A37E-45A8-A297-0A4A18CE46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273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AE4B76-A581-47A4-9673-3C17F8F7DF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09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435100"/>
            <a:ext cx="4011084" cy="1162050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597151"/>
            <a:ext cx="4011084" cy="35290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E0C4E-630D-4959-B7ED-A4B175BF4749}" type="slidenum">
              <a:rPr lang="en-US" altLang="en-US"/>
              <a:pPr/>
              <a:t>‹#›</a:t>
            </a:fld>
            <a:endParaRPr lang="en-US" altLang="en-US">
              <a:solidFill>
                <a:srgbClr val="88A4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81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493298"/>
            <a:ext cx="7315200" cy="3234277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E624D8-8386-427C-9FCC-1AE712DAEE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94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F48D35-2449-437C-9EA6-23E7E83868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9F614-9941-476D-8583-D465C92E16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9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946400" y="274638"/>
            <a:ext cx="8636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6D6D6B"/>
                </a:solidFill>
                <a:latin typeface="Calibri" panose="020F0502020204030204" pitchFamily="34" charset="0"/>
              </a:defRPr>
            </a:lvl1pPr>
          </a:lstStyle>
          <a:p>
            <a:fld id="{FE04BC9B-7BF9-4C92-B363-7D16E142070A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29" name="Picture 6" descr="seaverlogo-224x84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55576"/>
            <a:ext cx="1682751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822267" y="6356350"/>
            <a:ext cx="2506133" cy="369888"/>
          </a:xfrm>
          <a:prstGeom prst="rect">
            <a:avLst/>
          </a:prstGeom>
          <a:noFill/>
        </p:spPr>
        <p:txBody>
          <a:bodyPr anchor="ctr"/>
          <a:lstStyle/>
          <a:p>
            <a:pPr algn="r">
              <a:defRPr/>
            </a:pPr>
            <a:r>
              <a:rPr lang="en-US" sz="1200">
                <a:solidFill>
                  <a:srgbClr val="6D6D6B"/>
                </a:solidFill>
                <a:latin typeface="Calibri" pitchFamily="-108" charset="0"/>
                <a:ea typeface="ＭＳ Ｐゴシック" pitchFamily="-108" charset="-128"/>
                <a:cs typeface="ＭＳ Ｐゴシック" pitchFamily="-108" charset="-128"/>
              </a:rPr>
              <a:t>Graduate Project Slide   </a:t>
            </a:r>
          </a:p>
        </p:txBody>
      </p:sp>
      <p:sp>
        <p:nvSpPr>
          <p:cNvPr id="9" name="Footer Placeholder 4"/>
          <p:cNvSpPr txBox="1">
            <a:spLocks/>
          </p:cNvSpPr>
          <p:nvPr/>
        </p:nvSpPr>
        <p:spPr>
          <a:xfrm>
            <a:off x="4165600" y="6361114"/>
            <a:ext cx="3860800" cy="365125"/>
          </a:xfrm>
          <a:prstGeom prst="rect">
            <a:avLst/>
          </a:prstGeom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t>IE 5617 – F 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361113"/>
            <a:ext cx="3812117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hdr="0" ftr="0" dt="0"/>
  <p:txStyles>
    <p:titleStyle>
      <a:lvl1pPr algn="r" defTabSz="457200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Arial"/>
          <a:ea typeface="ＭＳ Ｐゴシック" pitchFamily="-105" charset="-128"/>
          <a:cs typeface="Arial"/>
        </a:defRPr>
      </a:lvl1pPr>
      <a:lvl2pPr algn="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2pPr>
      <a:lvl3pPr algn="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3pPr>
      <a:lvl4pPr algn="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4pPr>
      <a:lvl5pPr algn="r" defTabSz="457200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5pPr>
      <a:lvl6pPr marL="457200" algn="r" defTabSz="457200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6pPr>
      <a:lvl7pPr marL="914400" algn="r" defTabSz="457200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7pPr>
      <a:lvl8pPr marL="1371600" algn="r" defTabSz="457200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8pPr>
      <a:lvl9pPr marL="1828800" algn="r" defTabSz="457200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pitchFamily="-105" charset="0"/>
          <a:ea typeface="ＭＳ Ｐゴシック" pitchFamily="-105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ＭＳ Ｐゴシック" pitchFamily="-105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/>
          <a:ea typeface="ＭＳ Ｐゴシック" pitchFamily="-105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Lucida Grande" pitchFamily="-106" charset="0"/>
        <a:buChar char="–"/>
        <a:defRPr sz="2400" kern="1200">
          <a:solidFill>
            <a:schemeClr val="tx1"/>
          </a:solidFill>
          <a:latin typeface="Arial"/>
          <a:ea typeface="ＭＳ Ｐゴシック" pitchFamily="-105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/>
          <a:ea typeface="ＭＳ Ｐゴシック" pitchFamily="-105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pitchFamily="-105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>
          <a:xfrm>
            <a:off x="2948608" y="2123317"/>
            <a:ext cx="8133521" cy="1143000"/>
          </a:xfrm>
        </p:spPr>
        <p:txBody>
          <a:bodyPr/>
          <a:lstStyle/>
          <a:p>
            <a:pPr algn="l" eaLnBrk="1" hangingPunct="1"/>
            <a:r>
              <a:rPr lang="en-US" altLang="en-US" sz="6600">
                <a:solidFill>
                  <a:srgbClr val="C00000"/>
                </a:solidFill>
                <a:ea typeface="ＭＳ Ｐゴシック"/>
              </a:rPr>
              <a:t>Lean Project</a:t>
            </a: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lang="en-US" altLang="en-US" b="0">
                <a:ea typeface="ＭＳ Ｐゴシック"/>
              </a:rPr>
              <a:t>Summer 2, 2025</a:t>
            </a: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/>
              </a:rPr>
              <a:t>Team: Food Production</a:t>
            </a: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lang="en-US" altLang="en-US" sz="2400" b="0">
                <a:ea typeface="ＭＳ Ｐゴシック"/>
              </a:rPr>
              <a:t>Student names who worked on this presentation:</a:t>
            </a:r>
            <a:br>
              <a:rPr lang="en-US" altLang="en-US" sz="2400" b="0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r>
              <a:rPr lang="en-US" sz="2400" b="0">
                <a:ea typeface="ＭＳ Ｐゴシック"/>
              </a:rPr>
              <a:t>Name: Cody Clifford</a:t>
            </a:r>
            <a:br>
              <a:rPr lang="en-US" sz="2400" b="0">
                <a:ea typeface="ＭＳ Ｐゴシック"/>
              </a:rPr>
            </a:br>
            <a:r>
              <a:rPr lang="en-US" sz="2400" b="0">
                <a:ea typeface="ＭＳ Ｐゴシック"/>
              </a:rPr>
              <a:t>Name: Ciana Omnis</a:t>
            </a:r>
            <a:br>
              <a:rPr lang="en-US" sz="2400" b="0">
                <a:ea typeface="ＭＳ Ｐゴシック"/>
              </a:rPr>
            </a:br>
            <a:r>
              <a:rPr lang="en-US" sz="2400" b="0">
                <a:ea typeface="ＭＳ Ｐゴシック"/>
              </a:rPr>
              <a:t>Name: Hannah Gorospe</a:t>
            </a:r>
            <a:br>
              <a:rPr lang="en-US" sz="2400" b="0">
                <a:ea typeface="ＭＳ Ｐゴシック"/>
              </a:rPr>
            </a:br>
            <a:r>
              <a:rPr lang="en-US" sz="2400" b="0">
                <a:ea typeface="ＭＳ Ｐゴシック"/>
              </a:rPr>
              <a:t>Name: Anh Le</a:t>
            </a:r>
            <a:br>
              <a:rPr lang="en-US" sz="2400" b="0">
                <a:ea typeface="ＭＳ Ｐゴシック"/>
              </a:rPr>
            </a:br>
            <a:r>
              <a:rPr lang="en-US" sz="2400" b="0">
                <a:ea typeface="ＭＳ Ｐゴシック"/>
              </a:rPr>
              <a:t>Name: Saloni </a:t>
            </a:r>
            <a:r>
              <a:rPr lang="en-US" sz="2400" b="0" err="1">
                <a:ea typeface="ＭＳ Ｐゴシック"/>
              </a:rPr>
              <a:t>Tanpure</a:t>
            </a:r>
            <a:br>
              <a:rPr lang="en-US" altLang="en-US" sz="2400" b="0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endParaRPr lang="en-US" altLang="en-US" sz="2400" b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6410F86-6558-4AB2-8C47-F3AF7DC46B93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>
          <a:xfrm>
            <a:off x="2948608" y="2123317"/>
            <a:ext cx="8133521" cy="1143000"/>
          </a:xfrm>
        </p:spPr>
        <p:txBody>
          <a:bodyPr/>
          <a:lstStyle/>
          <a:p>
            <a:pPr algn="ctr" eaLnBrk="1" hangingPunct="1"/>
            <a:r>
              <a:rPr lang="en-US" altLang="en-US" sz="4800">
                <a:ea typeface="ＭＳ Ｐゴシック"/>
              </a:rPr>
              <a:t>Part 1: Report on Food Production Industry </a:t>
            </a: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6410F86-6558-4AB2-8C47-F3AF7DC46B93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31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Industry Overview </a:t>
            </a:r>
          </a:p>
        </p:txBody>
      </p:sp>
      <p:sp>
        <p:nvSpPr>
          <p:cNvPr id="15363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US packaged food industry is estimated at a value of $1.03 trillion in 2021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Largest companies include Kraft Heinz, </a:t>
            </a:r>
            <a:r>
              <a:rPr lang="en-US" altLang="en-US" err="1">
                <a:latin typeface="Arial" panose="020B0604020202020204" pitchFamily="34" charset="0"/>
                <a:ea typeface="ＭＳ Ｐゴシック" panose="020B0600070205080204" pitchFamily="34" charset="-128"/>
              </a:rPr>
              <a:t>Kellanova</a:t>
            </a:r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, and General Mills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Expected to grow by 4.8% annually until 2030, driven by busy schedules and growing preference for convenience</a:t>
            </a: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6410F86-6558-4AB2-8C47-F3AF7DC46B93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pic>
        <p:nvPicPr>
          <p:cNvPr id="1026" name="Picture 2" descr="U.S. packaged food market size, by distribution channel, 2020 - 2030 (USD Billion)">
            <a:extLst>
              <a:ext uri="{FF2B5EF4-FFF2-40B4-BE49-F238E27FC236}">
                <a16:creationId xmlns:a16="http://schemas.microsoft.com/office/drawing/2014/main" id="{D55CD83B-CF2B-CDCD-1529-2622730610F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531" y="2008095"/>
            <a:ext cx="6220864" cy="3249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234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Industry Main Challenges: Last 10 years</a:t>
            </a:r>
          </a:p>
        </p:txBody>
      </p:sp>
      <p:sp>
        <p:nvSpPr>
          <p:cNvPr id="17411" name="Content Placeholder 5"/>
          <p:cNvSpPr>
            <a:spLocks noGrp="1"/>
          </p:cNvSpPr>
          <p:nvPr>
            <p:ph sz="half" idx="1"/>
          </p:nvPr>
        </p:nvSpPr>
        <p:spPr>
          <a:xfrm>
            <a:off x="171883" y="1716127"/>
            <a:ext cx="11593767" cy="4501844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>
                <a:ea typeface="ＭＳ Ｐゴシック"/>
              </a:rPr>
              <a:t>Problems</a:t>
            </a:r>
            <a:endParaRPr lang="en-US" b="1"/>
          </a:p>
          <a:p>
            <a:r>
              <a:rPr lang="en-US" altLang="en-US" sz="2600">
                <a:ea typeface="ＭＳ Ｐゴシック"/>
              </a:rPr>
              <a:t>Big companies dominate: small food producers can't compete</a:t>
            </a:r>
          </a:p>
          <a:p>
            <a:r>
              <a:rPr lang="en-US" altLang="en-US" sz="2600">
                <a:ea typeface="ＭＳ Ｐゴシック"/>
              </a:rPr>
              <a:t>Low profits: costs for materials, and labor keep rising, but profits stay small</a:t>
            </a:r>
          </a:p>
          <a:p>
            <a:r>
              <a:rPr lang="en-US" altLang="en-US" sz="2600">
                <a:ea typeface="ＭＳ Ｐゴシック"/>
              </a:rPr>
              <a:t>Supply chain issues: delays and food waste hurt businesses</a:t>
            </a:r>
          </a:p>
          <a:p>
            <a:pPr marL="0" indent="0">
              <a:buNone/>
            </a:pPr>
            <a:endParaRPr lang="en-US" altLang="en-US" sz="26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4473D5-141C-4E6A-81F1-BB302FE16CD9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24B95-5A6F-6CE4-D66E-AA9B0765A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5045" y="3854596"/>
            <a:ext cx="11572607" cy="4516783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ea typeface="ＭＳ Ｐゴシック"/>
              </a:rPr>
              <a:t>Goal of improvements</a:t>
            </a:r>
          </a:p>
          <a:p>
            <a:r>
              <a:rPr lang="en-US" sz="2600">
                <a:ea typeface="ＭＳ Ｐゴシック"/>
              </a:rPr>
              <a:t>Support small producers: help them get fair access to stores and customers</a:t>
            </a:r>
          </a:p>
          <a:p>
            <a:r>
              <a:rPr lang="en-US" sz="2600">
                <a:ea typeface="ＭＳ Ｐゴシック"/>
              </a:rPr>
              <a:t>Boost profits: cut costs with better tools, and stronger supply chain</a:t>
            </a:r>
          </a:p>
          <a:p>
            <a:r>
              <a:rPr lang="en-US" sz="2600">
                <a:ea typeface="ＭＳ Ｐゴシック"/>
              </a:rPr>
              <a:t>Cut waste: use better planning, managing and smart tech</a:t>
            </a:r>
          </a:p>
          <a:p>
            <a:endParaRPr lang="en-US" b="1">
              <a:ea typeface="ＭＳ Ｐゴシック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/>
          <p:cNvSpPr>
            <a:spLocks noGrp="1"/>
          </p:cNvSpPr>
          <p:nvPr>
            <p:ph type="title"/>
          </p:nvPr>
        </p:nvSpPr>
        <p:spPr>
          <a:xfrm>
            <a:off x="2529457" y="274638"/>
            <a:ext cx="9513018" cy="1143000"/>
          </a:xfrm>
        </p:spPr>
        <p:txBody>
          <a:bodyPr/>
          <a:lstStyle/>
          <a:p>
            <a:pPr algn="l" eaLnBrk="1" hangingPunct="1"/>
            <a:r>
              <a:rPr lang="en-US" altLang="en-US">
                <a:ea typeface="ＭＳ Ｐゴシック"/>
              </a:rPr>
              <a:t>Example of Lean Incentive Accomplished in Last 10 years: Kettle Cuisine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411" name="Content Placeholder 5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212272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600" b="1">
                <a:ea typeface="ＭＳ Ｐゴシック"/>
              </a:rPr>
              <a:t>What was done</a:t>
            </a:r>
            <a:endParaRPr lang="en-US" sz="2600" b="1">
              <a:ea typeface="ＭＳ Ｐゴシック"/>
            </a:endParaRPr>
          </a:p>
          <a:p>
            <a:r>
              <a:rPr lang="en-US" altLang="en-US" sz="2400">
                <a:ea typeface="ＭＳ Ｐゴシック"/>
              </a:rPr>
              <a:t>Implemented SOPs in cleaning</a:t>
            </a:r>
          </a:p>
          <a:p>
            <a:pPr marL="0" indent="0">
              <a:buNone/>
            </a:pPr>
            <a:r>
              <a:rPr lang="en-US" altLang="en-US" sz="2600" b="1">
                <a:ea typeface="ＭＳ Ｐゴシック"/>
              </a:rPr>
              <a:t>Measurable Results</a:t>
            </a:r>
            <a:endParaRPr lang="en-US" sz="2600" b="1">
              <a:ea typeface="ＭＳ Ｐゴシック"/>
            </a:endParaRPr>
          </a:p>
          <a:p>
            <a:r>
              <a:rPr lang="en-US" altLang="en-US" sz="2400">
                <a:ea typeface="ＭＳ Ｐゴシック"/>
              </a:rPr>
              <a:t>Production grew 32%, chemical growth limited to 27%</a:t>
            </a:r>
          </a:p>
          <a:p>
            <a:pPr marL="0" indent="0">
              <a:buNone/>
            </a:pPr>
            <a:r>
              <a:rPr lang="en-US" altLang="en-US" sz="2600" b="1">
                <a:ea typeface="ＭＳ Ｐゴシック"/>
              </a:rPr>
              <a:t>Lessons Learned</a:t>
            </a:r>
            <a:endParaRPr lang="en-US" sz="2600" b="1">
              <a:ea typeface="ＭＳ Ｐゴシック"/>
            </a:endParaRPr>
          </a:p>
          <a:p>
            <a:r>
              <a:rPr lang="en-US" altLang="en-US" sz="2400">
                <a:ea typeface="ＭＳ Ｐゴシック"/>
              </a:rPr>
              <a:t>Clear processes improve efficiency &amp; reduce waste</a:t>
            </a:r>
          </a:p>
          <a:p>
            <a:pPr marL="0" indent="0">
              <a:buNone/>
            </a:pPr>
            <a:r>
              <a:rPr lang="en-US" altLang="en-US" sz="2600" b="1">
                <a:ea typeface="ＭＳ Ｐゴシック"/>
              </a:rPr>
              <a:t>Next Steps</a:t>
            </a:r>
            <a:endParaRPr lang="en-US" sz="2600" b="1">
              <a:ea typeface="ＭＳ Ｐゴシック"/>
            </a:endParaRPr>
          </a:p>
          <a:p>
            <a:r>
              <a:rPr lang="en-US" altLang="en-US" sz="2400">
                <a:ea typeface="ＭＳ Ｐゴシック"/>
              </a:rPr>
              <a:t>Involve operators in efforts, specify level of cleaning</a:t>
            </a: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4473D5-141C-4E6A-81F1-BB302FE16CD9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pic>
        <p:nvPicPr>
          <p:cNvPr id="4" name="Picture 3" descr="A screenshot of a kettle cleaning guide&#10;&#10;AI-generated content may be incorrect.">
            <a:extLst>
              <a:ext uri="{FF2B5EF4-FFF2-40B4-BE49-F238E27FC236}">
                <a16:creationId xmlns:a16="http://schemas.microsoft.com/office/drawing/2014/main" id="{358166C6-0B4B-634F-3345-4050D567C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298" y="1921552"/>
            <a:ext cx="6225313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706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Current Challenges and Areas for Lean Improvement </a:t>
            </a:r>
          </a:p>
        </p:txBody>
      </p:sp>
      <p:sp>
        <p:nvSpPr>
          <p:cNvPr id="18435" name="Content Placeholder 5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7171765" cy="4525963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Hard for small businesses to compete with larger ones, often bought out or shut down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Expenses for materials, labor, energy continue to climb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Supply chain disruptions result in spoilt food and longer storage times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Sustainability initiatives to counter environmental stress require capital to change current practices</a:t>
            </a: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42473AC-DF04-4C38-9344-29F94059236C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pic>
        <p:nvPicPr>
          <p:cNvPr id="2050" name="Picture 2" descr="Dover Kraft Heinz factory continues to rise">
            <a:extLst>
              <a:ext uri="{FF2B5EF4-FFF2-40B4-BE49-F238E27FC236}">
                <a16:creationId xmlns:a16="http://schemas.microsoft.com/office/drawing/2014/main" id="{DE71698F-8D7A-CD40-3182-C54346B84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275" y="906771"/>
            <a:ext cx="4278923" cy="266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Sustainable Farming and Agriculture? | Entrepreneur">
            <a:extLst>
              <a:ext uri="{FF2B5EF4-FFF2-40B4-BE49-F238E27FC236}">
                <a16:creationId xmlns:a16="http://schemas.microsoft.com/office/drawing/2014/main" id="{03DAD2C5-42E8-9982-735D-41D938C4B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816" y="3734654"/>
            <a:ext cx="4274382" cy="28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>
          <a:xfrm>
            <a:off x="2660374" y="2123317"/>
            <a:ext cx="8133521" cy="1143000"/>
          </a:xfrm>
        </p:spPr>
        <p:txBody>
          <a:bodyPr/>
          <a:lstStyle/>
          <a:p>
            <a:pPr algn="ctr" eaLnBrk="1" hangingPunct="1"/>
            <a:r>
              <a:rPr lang="en-US" altLang="en-US" sz="4800">
                <a:ea typeface="ＭＳ Ｐゴシック"/>
              </a:rPr>
              <a:t>Part 2: Proposal for Sweet Babu's</a:t>
            </a:r>
            <a:br>
              <a:rPr lang="en-US" altLang="en-US" sz="4800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br>
              <a:rPr lang="en-US" altLang="en-US" sz="4800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b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</a:b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6410F86-6558-4AB2-8C47-F3AF7DC46B93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593BC83-2620-E778-4F59-B825FEB61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29267" y="2454361"/>
            <a:ext cx="3143764" cy="194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60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ea typeface="ＭＳ Ｐゴシック"/>
              </a:rPr>
              <a:t>Company Overview 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363" name="Content Placeholder 5"/>
          <p:cNvSpPr>
            <a:spLocks noGrp="1"/>
          </p:cNvSpPr>
          <p:nvPr>
            <p:ph sz="half" idx="1"/>
          </p:nvPr>
        </p:nvSpPr>
        <p:spPr>
          <a:xfrm>
            <a:off x="241566" y="1890272"/>
            <a:ext cx="5409986" cy="483218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200" b="1">
                <a:ea typeface="ＭＳ Ｐゴシック"/>
              </a:rPr>
              <a:t>Product</a:t>
            </a:r>
            <a:endParaRPr lang="en-US" altLang="en-US" sz="22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/>
              </a:rPr>
              <a:t>Gluten-free granolas in a variety of flavors (Maple Pecan, Cherry Pie, Blueberry Muffin) </a:t>
            </a:r>
            <a:endParaRPr lang="en-US" alt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/>
              </a:rPr>
              <a:t>Maple Roasted Nuts as a complementary product</a:t>
            </a:r>
            <a:endParaRPr lang="en-US" alt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1800">
              <a:ea typeface="ＭＳ Ｐゴシック"/>
            </a:endParaRPr>
          </a:p>
          <a:p>
            <a:pPr marL="0" indent="0">
              <a:buNone/>
            </a:pPr>
            <a:r>
              <a:rPr lang="en-US" altLang="en-US" sz="2200" b="1">
                <a:ea typeface="ＭＳ Ｐゴシック"/>
              </a:rPr>
              <a:t>Company Background</a:t>
            </a:r>
            <a:endParaRPr lang="en-US" altLang="en-US" sz="22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/>
              </a:rPr>
              <a:t>Founded by Chelsea, inspired by her grandmother's recipes </a:t>
            </a:r>
            <a:endParaRPr lang="en-US" alt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/>
              </a:rPr>
              <a:t>Uses mostly local ingredients, except oil</a:t>
            </a:r>
            <a:endParaRPr lang="en-US" alt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/>
              </a:rPr>
              <a:t>Started in a commercial kitchen in Chicopee, expansion planned</a:t>
            </a:r>
            <a:endParaRPr lang="en-US" alt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200">
              <a:ea typeface="ＭＳ Ｐゴシック"/>
            </a:endParaRPr>
          </a:p>
          <a:p>
            <a:pPr marL="0" indent="0">
              <a:buNone/>
            </a:pPr>
            <a:endParaRPr lang="en-US" altLang="en-US" sz="20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2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6410F86-6558-4AB2-8C47-F3AF7DC46B93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4F184E1-B75E-0EFE-8383-67C96D6B277B}"/>
              </a:ext>
            </a:extLst>
          </p:cNvPr>
          <p:cNvSpPr txBox="1">
            <a:spLocks/>
          </p:cNvSpPr>
          <p:nvPr/>
        </p:nvSpPr>
        <p:spPr bwMode="auto">
          <a:xfrm>
            <a:off x="5905891" y="1896767"/>
            <a:ext cx="5143711" cy="481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ＭＳ Ｐゴシック" pitchFamily="-105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pitchFamily="-105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Lucida Grande" pitchFamily="-106" charset="0"/>
              <a:buChar char="–"/>
              <a:defRPr sz="2000" kern="1200">
                <a:solidFill>
                  <a:schemeClr val="tx1"/>
                </a:solidFill>
                <a:latin typeface="Arial"/>
                <a:ea typeface="ＭＳ Ｐゴシック" pitchFamily="-105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/>
                <a:ea typeface="ＭＳ Ｐゴシック" pitchFamily="-105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ＭＳ Ｐゴシック" pitchFamily="-105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200" b="1">
                <a:ea typeface="ＭＳ Ｐゴシック"/>
              </a:rPr>
              <a:t>Growth Highlights</a:t>
            </a:r>
            <a:endParaRPr lang="en-US" altLang="en-US" sz="22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/>
              </a:rPr>
              <a:t>150 </a:t>
            </a:r>
            <a:r>
              <a:rPr lang="en-US" altLang="en-US" sz="2000" err="1">
                <a:ea typeface="ＭＳ Ｐゴシック"/>
              </a:rPr>
              <a:t>lbs</a:t>
            </a:r>
            <a:r>
              <a:rPr lang="en-US" altLang="en-US" sz="2000">
                <a:ea typeface="ＭＳ Ｐゴシック"/>
              </a:rPr>
              <a:t> of granola produced daily</a:t>
            </a:r>
          </a:p>
          <a:p>
            <a:r>
              <a:rPr lang="en-US" altLang="en-US" sz="2000">
                <a:ea typeface="ＭＳ Ｐゴシック"/>
              </a:rPr>
              <a:t>900 </a:t>
            </a:r>
            <a:r>
              <a:rPr lang="en-US" altLang="en-US" sz="2000" err="1">
                <a:ea typeface="ＭＳ Ｐゴシック"/>
              </a:rPr>
              <a:t>lbs</a:t>
            </a:r>
            <a:r>
              <a:rPr lang="en-US" altLang="en-US" sz="2000">
                <a:ea typeface="ＭＳ Ｐゴシック"/>
              </a:rPr>
              <a:t>/month sold to Springfield school</a:t>
            </a:r>
          </a:p>
          <a:p>
            <a:r>
              <a:rPr lang="en-US" altLang="en-US" sz="2000">
                <a:ea typeface="ＭＳ Ｐゴシック"/>
              </a:rPr>
              <a:t>Sales doubled year-over-year</a:t>
            </a:r>
          </a:p>
          <a:p>
            <a:r>
              <a:rPr lang="en-US" altLang="en-US" sz="2000">
                <a:ea typeface="ＭＳ Ｐゴシック"/>
              </a:rPr>
              <a:t>Working with a small regional distributor</a:t>
            </a:r>
            <a:endParaRPr lang="en-US" sz="2000">
              <a:ea typeface="ＭＳ Ｐゴシック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2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r>
              <a:rPr lang="en-US" sz="2200" b="1">
                <a:ea typeface="ＭＳ Ｐゴシック"/>
              </a:rPr>
              <a:t>What Makes It Unique</a:t>
            </a:r>
            <a:endParaRPr lang="en-US" sz="2200" b="1"/>
          </a:p>
          <a:p>
            <a:r>
              <a:rPr lang="en-US" sz="2000">
                <a:ea typeface="ＭＳ Ｐゴシック"/>
              </a:rPr>
              <a:t>Unique chunky texture and bold flavors</a:t>
            </a:r>
            <a:endParaRPr 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sz="2000">
                <a:ea typeface="ＭＳ Ｐゴシック"/>
              </a:rPr>
              <a:t>Higher price, but justified by quality</a:t>
            </a:r>
            <a:endParaRPr 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sz="2000">
                <a:ea typeface="ＭＳ Ｐゴシック"/>
              </a:rPr>
              <a:t>Little competition from big brands due to niche</a:t>
            </a:r>
            <a:endParaRPr lang="en-US" sz="20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sz="22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>
              <a:buNone/>
            </a:pPr>
            <a:endParaRPr lang="en-US" altLang="en-US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0" name="Picture 9" descr="Muffins in a muffin tin next to a bag of granola&#10;&#10;AI-generated content may be incorrect.">
            <a:extLst>
              <a:ext uri="{FF2B5EF4-FFF2-40B4-BE49-F238E27FC236}">
                <a16:creationId xmlns:a16="http://schemas.microsoft.com/office/drawing/2014/main" id="{2724F00A-62E9-4F1E-C85C-4569A614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645" y="142299"/>
            <a:ext cx="2047431" cy="206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69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Analysis of Current State</a:t>
            </a:r>
          </a:p>
        </p:txBody>
      </p:sp>
      <p:sp>
        <p:nvSpPr>
          <p:cNvPr id="17411" name="Content Placeholder 5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7971692" cy="4525963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Producing oil mixtures are temperature sensitive and require precision, forming a bottleneck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Ingredients need to be double checked for weight by hand, a non-value-added process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Human errors result in batches requiring rework, being sold at cost to local markets, or being tossed altogether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Partly open oven doors are common issues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4473D5-141C-4E6A-81F1-BB302FE16CD9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drawing">
            <a:extLst>
              <a:ext uri="{FF2B5EF4-FFF2-40B4-BE49-F238E27FC236}">
                <a16:creationId xmlns:a16="http://schemas.microsoft.com/office/drawing/2014/main" id="{F55DE94F-308F-C736-44AB-D414BA742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151" y="412751"/>
            <a:ext cx="314325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65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Proposed Lean Project: “What”</a:t>
            </a:r>
          </a:p>
        </p:txBody>
      </p:sp>
      <p:sp>
        <p:nvSpPr>
          <p:cNvPr id="17411" name="Content Placeholder 5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781152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200" b="1">
                <a:latin typeface="Arial" panose="020B0604020202020204" pitchFamily="34" charset="0"/>
                <a:ea typeface="ＭＳ Ｐゴシック" panose="020B0600070205080204" pitchFamily="34" charset="-128"/>
              </a:rPr>
              <a:t>Solutions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Digital scales with alert systems, checklists to reduce time spent proportioning granola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Additional oil heating and mixing equipment to reduce production time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Adding sensor to oven to warn operators of an open door</a:t>
            </a:r>
          </a:p>
          <a:p>
            <a:pPr marL="0" indent="0" eaLnBrk="1" hangingPunct="1">
              <a:buNone/>
            </a:pPr>
            <a:endParaRPr lang="en-US" altLang="en-US" sz="2200" b="1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r>
              <a:rPr lang="en-US" altLang="en-US" sz="2200" b="1">
                <a:latin typeface="Arial" panose="020B0604020202020204" pitchFamily="34" charset="0"/>
                <a:ea typeface="ＭＳ Ｐゴシック" panose="020B0600070205080204" pitchFamily="34" charset="-128"/>
              </a:rPr>
              <a:t>Measurable Goals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Cycle times are reduced across the entire granola production process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Oil output for all flavors is increased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Human errors and resultant waste are reduced</a:t>
            </a:r>
          </a:p>
        </p:txBody>
      </p:sp>
      <p:sp>
        <p:nvSpPr>
          <p:cNvPr id="17412" name="Content Placeholder 6"/>
          <p:cNvSpPr>
            <a:spLocks noGrp="1"/>
          </p:cNvSpPr>
          <p:nvPr>
            <p:ph sz="half" idx="2"/>
          </p:nvPr>
        </p:nvSpPr>
        <p:spPr>
          <a:xfrm>
            <a:off x="6979298" y="1600201"/>
            <a:ext cx="4603102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200" b="1">
                <a:latin typeface="Arial" panose="020B0604020202020204" pitchFamily="34" charset="0"/>
                <a:ea typeface="ＭＳ Ｐゴシック" panose="020B0600070205080204" pitchFamily="34" charset="-128"/>
              </a:rPr>
              <a:t>Duration</a:t>
            </a:r>
            <a:endParaRPr lang="en-US" altLang="en-US" sz="22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Training for new equipment should be brief, only a few hours per employee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Addition of door sensor to oven may require an electrician’s services, could put oven out of commission for a day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ＭＳ Ｐゴシック" panose="020B0600070205080204" pitchFamily="34" charset="-128"/>
              </a:rPr>
              <a:t>Continuous improvement workshops to refine equipment handling and encourage new lean opportunities may take a few hours, should be continued indefinitely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4473D5-141C-4E6A-81F1-BB302FE16CD9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30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Proposed Lean Project: “How Much”</a:t>
            </a:r>
          </a:p>
        </p:txBody>
      </p:sp>
      <p:sp>
        <p:nvSpPr>
          <p:cNvPr id="17411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Budget</a:t>
            </a:r>
          </a:p>
          <a:p>
            <a:pPr eaLnBrk="1" hangingPunct="1"/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 eaLnBrk="1" hangingPunct="1">
              <a:buNone/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Required Resources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Training for new equipment</a:t>
            </a:r>
          </a:p>
          <a:p>
            <a:pPr lvl="1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Electrician for sensor installation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4473D5-141C-4E6A-81F1-BB302FE16CD9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F004BA-5503-AD33-F46C-DE1080D4F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9112"/>
              </p:ext>
            </p:extLst>
          </p:nvPr>
        </p:nvGraphicFramePr>
        <p:xfrm>
          <a:off x="651125" y="2133600"/>
          <a:ext cx="582557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785">
                  <a:extLst>
                    <a:ext uri="{9D8B030D-6E8A-4147-A177-3AD203B41FA5}">
                      <a16:colId xmlns:a16="http://schemas.microsoft.com/office/drawing/2014/main" val="1234276558"/>
                    </a:ext>
                  </a:extLst>
                </a:gridCol>
                <a:gridCol w="2912785">
                  <a:extLst>
                    <a:ext uri="{9D8B030D-6E8A-4147-A177-3AD203B41FA5}">
                      <a16:colId xmlns:a16="http://schemas.microsoft.com/office/drawing/2014/main" val="688359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205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Visual Weighing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865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Additional Oil 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31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Weighing/Portioning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992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Oven Door Poka-Yoke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467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Training Workshops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01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$2,095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59931"/>
                  </a:ext>
                </a:extLst>
              </a:tr>
            </a:tbl>
          </a:graphicData>
        </a:graphic>
      </p:graphicFrame>
      <p:pic>
        <p:nvPicPr>
          <p:cNvPr id="3074" name="Picture 2" descr="Amazon.com: uhyOHF Constant Temperature Hot Oil Machine, 3.5L Commercial Oil  Burner and Warmer, 1500W Automatic Electric Cooking Hot Oil Making( :  Industrial &amp; Scientific">
            <a:extLst>
              <a:ext uri="{FF2B5EF4-FFF2-40B4-BE49-F238E27FC236}">
                <a16:creationId xmlns:a16="http://schemas.microsoft.com/office/drawing/2014/main" id="{F50A806E-707E-D44D-1B0C-463CF9FB620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925" y="1647936"/>
            <a:ext cx="4435475" cy="443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81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5,600+ Factory Handshake Stock Photos, Pictures &amp; Royalty-Free Images -  iStock | Warehouse, Factory worker, Factory team">
            <a:extLst>
              <a:ext uri="{FF2B5EF4-FFF2-40B4-BE49-F238E27FC236}">
                <a16:creationId xmlns:a16="http://schemas.microsoft.com/office/drawing/2014/main" id="{279AED7C-1C25-B4A2-20EA-A4F1AA005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458" y="1417638"/>
            <a:ext cx="4787348" cy="319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Steps for Continuous Improvement </a:t>
            </a:r>
          </a:p>
        </p:txBody>
      </p:sp>
      <p:sp>
        <p:nvSpPr>
          <p:cNvPr id="18435" name="Content Placeholder 5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615836" cy="4525963"/>
          </a:xfrm>
        </p:spPr>
        <p:txBody>
          <a:bodyPr/>
          <a:lstStyle/>
          <a:p>
            <a:r>
              <a:rPr lang="en-US">
                <a:ea typeface="ＭＳ Ｐゴシック"/>
              </a:rPr>
              <a:t>Record weekly number of batches requiring rework/scrap</a:t>
            </a:r>
          </a:p>
          <a:p>
            <a:endParaRPr lang="en-US"/>
          </a:p>
          <a:p>
            <a:r>
              <a:rPr lang="en-US">
                <a:ea typeface="ＭＳ Ｐゴシック"/>
              </a:rPr>
              <a:t>Use employee feedback</a:t>
            </a: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>
                <a:ea typeface="ＭＳ Ｐゴシック"/>
              </a:rPr>
              <a:t>Kitchen space expansion</a:t>
            </a:r>
          </a:p>
          <a:p>
            <a:endParaRPr lang="en-US">
              <a:ea typeface="ＭＳ Ｐゴシック"/>
            </a:endParaRPr>
          </a:p>
          <a:p>
            <a:r>
              <a:rPr lang="en-US">
                <a:ea typeface="ＭＳ Ｐゴシック"/>
              </a:rPr>
              <a:t>Future automation opportunities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42473AC-DF04-4C38-9344-29F94059236C}" type="slidenum">
              <a:rPr lang="en-US" altLang="en-US" sz="1200">
                <a:solidFill>
                  <a:srgbClr val="6D6D6B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n-US" altLang="en-US" sz="1200">
              <a:solidFill>
                <a:srgbClr val="6D6D6B"/>
              </a:solidFill>
              <a:latin typeface="Calibri" panose="020F0502020204030204" pitchFamily="34" charset="0"/>
            </a:endParaRPr>
          </a:p>
        </p:txBody>
      </p:sp>
      <p:sp>
        <p:nvSpPr>
          <p:cNvPr id="4" name="Arrow: Bent 3">
            <a:extLst>
              <a:ext uri="{FF2B5EF4-FFF2-40B4-BE49-F238E27FC236}">
                <a16:creationId xmlns:a16="http://schemas.microsoft.com/office/drawing/2014/main" id="{E62A0E65-201E-CD9B-8004-89372E940E4F}"/>
              </a:ext>
            </a:extLst>
          </p:cNvPr>
          <p:cNvSpPr/>
          <p:nvPr/>
        </p:nvSpPr>
        <p:spPr>
          <a:xfrm>
            <a:off x="9397236" y="4105331"/>
            <a:ext cx="813816" cy="868680"/>
          </a:xfrm>
          <a:prstGeom prst="bentArrow">
            <a:avLst/>
          </a:prstGeom>
          <a:solidFill>
            <a:srgbClr val="FCD847"/>
          </a:solidFill>
          <a:ln>
            <a:solidFill>
              <a:srgbClr val="E8C44B"/>
            </a:solidFill>
          </a:ln>
          <a:effectLst>
            <a:outerShdw blurRad="63500" dist="38100" dir="27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71EE294C-CE16-1EFA-5B79-EE316FCA7657}"/>
              </a:ext>
            </a:extLst>
          </p:cNvPr>
          <p:cNvSpPr/>
          <p:nvPr/>
        </p:nvSpPr>
        <p:spPr>
          <a:xfrm rot="5400000">
            <a:off x="10915674" y="4099769"/>
            <a:ext cx="813816" cy="868680"/>
          </a:xfrm>
          <a:prstGeom prst="bentArrow">
            <a:avLst/>
          </a:prstGeom>
          <a:solidFill>
            <a:srgbClr val="FCD847"/>
          </a:solidFill>
          <a:ln>
            <a:solidFill>
              <a:srgbClr val="E8C44B"/>
            </a:solidFill>
          </a:ln>
          <a:effectLst>
            <a:outerShdw blurRad="63500" dist="38100" dir="27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6C06D324-68DE-76D1-4D69-F96DFC8D3109}"/>
              </a:ext>
            </a:extLst>
          </p:cNvPr>
          <p:cNvSpPr/>
          <p:nvPr/>
        </p:nvSpPr>
        <p:spPr>
          <a:xfrm rot="10800000">
            <a:off x="10887864" y="5356790"/>
            <a:ext cx="813816" cy="868680"/>
          </a:xfrm>
          <a:prstGeom prst="bentArrow">
            <a:avLst/>
          </a:prstGeom>
          <a:solidFill>
            <a:srgbClr val="FCD847"/>
          </a:solidFill>
          <a:ln>
            <a:solidFill>
              <a:srgbClr val="E8C44B"/>
            </a:solidFill>
          </a:ln>
          <a:effectLst>
            <a:outerShdw blurRad="63500" dist="38100" dir="27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5DAAFA24-0374-A769-0951-0CA90F3CAE40}"/>
              </a:ext>
            </a:extLst>
          </p:cNvPr>
          <p:cNvSpPr/>
          <p:nvPr/>
        </p:nvSpPr>
        <p:spPr>
          <a:xfrm rot="16200000">
            <a:off x="9369426" y="5273360"/>
            <a:ext cx="813816" cy="868680"/>
          </a:xfrm>
          <a:prstGeom prst="bentArrow">
            <a:avLst/>
          </a:prstGeom>
          <a:solidFill>
            <a:srgbClr val="FCD847"/>
          </a:solidFill>
          <a:ln>
            <a:solidFill>
              <a:srgbClr val="E8C44B"/>
            </a:solidFill>
          </a:ln>
          <a:effectLst>
            <a:outerShdw blurRad="63500" dist="38100" dir="27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C4BB01-84DD-931B-BF60-17521D10C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030" y="4427282"/>
            <a:ext cx="2048918" cy="127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34021"/>
      </p:ext>
    </p:extLst>
  </p:cSld>
  <p:clrMapOvr>
    <a:masterClrMapping/>
  </p:clrMapOvr>
</p:sld>
</file>

<file path=ppt/theme/theme1.xml><?xml version="1.0" encoding="utf-8"?>
<a:theme xmlns:a="http://schemas.openxmlformats.org/drawingml/2006/main" name="LM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5D12FC7E13194D8F89FB0EAA61E388" ma:contentTypeVersion="17" ma:contentTypeDescription="Create a new document." ma:contentTypeScope="" ma:versionID="90c26f1003d4944f129d4e985ba70f72">
  <xsd:schema xmlns:xsd="http://www.w3.org/2001/XMLSchema" xmlns:xs="http://www.w3.org/2001/XMLSchema" xmlns:p="http://schemas.microsoft.com/office/2006/metadata/properties" xmlns:ns3="f9c664b5-8701-466a-b43f-aeecd199066b" xmlns:ns4="2570d8bd-5f95-45b9-9604-ff747d2efd31" targetNamespace="http://schemas.microsoft.com/office/2006/metadata/properties" ma:root="true" ma:fieldsID="372f5c9fc023ed1f5f428de73673ca38" ns3:_="" ns4:_="">
    <xsd:import namespace="f9c664b5-8701-466a-b43f-aeecd199066b"/>
    <xsd:import namespace="2570d8bd-5f95-45b9-9604-ff747d2efd3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664b5-8701-466a-b43f-aeecd19906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70d8bd-5f95-45b9-9604-ff747d2efd3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c664b5-8701-466a-b43f-aeecd199066b" xsi:nil="true"/>
  </documentManagement>
</p:properties>
</file>

<file path=customXml/itemProps1.xml><?xml version="1.0" encoding="utf-8"?>
<ds:datastoreItem xmlns:ds="http://schemas.openxmlformats.org/officeDocument/2006/customXml" ds:itemID="{897F5123-3381-4D8E-BE53-0CFB01448074}">
  <ds:schemaRefs>
    <ds:schemaRef ds:uri="2570d8bd-5f95-45b9-9604-ff747d2efd31"/>
    <ds:schemaRef ds:uri="f9c664b5-8701-466a-b43f-aeecd19906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F916C4D-0471-4410-B346-E969EA53E9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966CCC-AA41-42CD-929F-60ACBD79AD96}">
  <ds:schemaRefs>
    <ds:schemaRef ds:uri="2570d8bd-5f95-45b9-9604-ff747d2efd31"/>
    <ds:schemaRef ds:uri="f9c664b5-8701-466a-b43f-aeecd199066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LMU.potx</Template>
  <Application>Microsoft Office PowerPoint</Application>
  <PresentationFormat>Widescreen</PresentationFormat>
  <Slides>12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LMU</vt:lpstr>
      <vt:lpstr>Lean Project Summer 2, 2025  Team: Food Production Student names who worked on this presentation: Name: Cody Clifford Name: Ciana Omnis Name: Hannah Gorospe Name: Anh Le Name: Saloni Tanpure </vt:lpstr>
      <vt:lpstr>Part 1: Report on Food Production Industry     </vt:lpstr>
      <vt:lpstr>Industry Overview </vt:lpstr>
      <vt:lpstr>Industry Main Challenges: Last 10 years</vt:lpstr>
      <vt:lpstr>Example of Lean Incentive Accomplished in Last 10 years: Kettle Cuisine</vt:lpstr>
      <vt:lpstr>Current Challenges and Areas for Lean Improvement </vt:lpstr>
      <vt:lpstr>Part 2: Proposal for Sweet Babu's    </vt:lpstr>
      <vt:lpstr>Company Overview </vt:lpstr>
      <vt:lpstr>Analysis of Current State</vt:lpstr>
      <vt:lpstr>Proposed Lean Project: “What”</vt:lpstr>
      <vt:lpstr>Proposed Lean Project: “How Much”</vt:lpstr>
      <vt:lpstr>Steps for Continuous Improvement </vt:lpstr>
    </vt:vector>
  </TitlesOfParts>
  <Company>NEU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Andrei Guschin</dc:creator>
  <cp:revision>3</cp:revision>
  <dcterms:created xsi:type="dcterms:W3CDTF">2014-11-08T01:37:56Z</dcterms:created>
  <dcterms:modified xsi:type="dcterms:W3CDTF">2025-08-17T21:20:29Z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0x0101003A5D12FC7E13194D8F89FB0EAA61E388</vt:lpwstr>
  </property>
</Properties>
</file>